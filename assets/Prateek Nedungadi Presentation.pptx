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embeddedFontLst>
    <p:embeddedFont>
      <p:font typeface="Inter"/>
      <p:regular r:id="rId38"/>
    </p:embeddedFont>
    <p:embeddedFont>
      <p:font typeface="SF Compact"/>
      <p:regular r:id="rId39"/>
    </p:embeddedFont>
    <p:embeddedFont>
      <p:font typeface="SF Pro"/>
      <p:regular r:id="rId4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font" Target="fonts/rId38.fntdata"/><Relationship Id="rId39" Type="http://schemas.openxmlformats.org/officeDocument/2006/relationships/font" Target="fonts/rId39.fntdata"/><Relationship Id="rId40" Type="http://schemas.openxmlformats.org/officeDocument/2006/relationships/font" Target="fonts/rId4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will discuss insights gathered from interviews with three NYU students and one full-time software engineer.
Key pain points identified include feelings of data inaccuracy and the inability to easily edit or customize health data.
Users expressed that the data often lacks meaningful context and actionable insights, primarily consisting of raw numbers.
There is a demand for custom data ranges, more summaries, and improved ways to interpret health trends.
Additionally, users want greater visibility through widgets and summaries to keep them engaged with their data and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biosync-prototype.lovable.app" TargetMode="External"/><Relationship Id="rId2"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382125" cy="5662613"/>
          </a:xfrm>
          <a:prstGeom prst="rect">
            <a:avLst/>
          </a:prstGeom>
        </p:spPr>
      </p:pic>
      <p:sp>
        <p:nvSpPr>
          <p:cNvPr id="3" name="Text 0"/>
          <p:cNvSpPr/>
          <p:nvPr/>
        </p:nvSpPr>
        <p:spPr>
          <a:xfrm>
            <a:off x="285750" y="428625"/>
            <a:ext cx="8462963" cy="2200275"/>
          </a:xfrm>
          <a:prstGeom prst="rect">
            <a:avLst/>
          </a:prstGeom>
          <a:noFill/>
          <a:ln/>
        </p:spPr>
        <p:txBody>
          <a:bodyPr wrap="square" lIns="0" tIns="0" rIns="0" bIns="0" rtlCol="0" anchor="t"/>
          <a:lstStyle/>
          <a:p>
            <a:pPr algn="l" indent="0" marL="0">
              <a:lnSpc>
                <a:spcPts val="5472"/>
              </a:lnSpc>
              <a:buNone/>
            </a:pPr>
            <a:r>
              <a:rPr lang="en-US" sz="4560" b="1" spc="-91" kern="0" dirty="0">
                <a:solidFill>
                  <a:srgbClr val="FFFFFF">
                    <a:alpha val="99000"/>
                  </a:srgbClr>
                </a:solidFill>
                <a:latin typeface="Inter" pitchFamily="34" charset="0"/>
                <a:ea typeface="Inter" pitchFamily="34" charset="-122"/>
                <a:cs typeface="Inter" pitchFamily="34" charset="-120"/>
              </a:rPr>
              <a:t>Apple Health  </a:t>
            </a:r>
            <a:endParaRPr lang="en-US" sz="4560" dirty="0"/>
          </a:p>
        </p:txBody>
      </p:sp>
      <p:sp>
        <p:nvSpPr>
          <p:cNvPr id="4" name="Text 1"/>
          <p:cNvSpPr/>
          <p:nvPr/>
        </p:nvSpPr>
        <p:spPr>
          <a:xfrm>
            <a:off x="1381125" y="3262313"/>
            <a:ext cx="0" cy="214313"/>
          </a:xfrm>
          <a:prstGeom prst="rect">
            <a:avLst/>
          </a:prstGeom>
          <a:noFill/>
          <a:ln/>
        </p:spPr>
        <p:txBody>
          <a:bodyPr wrap="square" lIns="0" tIns="0" rIns="0" bIns="0" rtlCol="0" anchor="t"/>
          <a:lstStyle/>
          <a:p>
            <a:pPr indent="0" marL="0">
              <a:buNone/>
            </a:pPr>
            <a:endParaRPr lang="en-US" dirty="0"/>
          </a:p>
        </p:txBody>
      </p:sp>
      <p:sp>
        <p:nvSpPr>
          <p:cNvPr id="5" name="Text 2"/>
          <p:cNvSpPr/>
          <p:nvPr/>
        </p:nvSpPr>
        <p:spPr>
          <a:xfrm>
            <a:off x="1228725" y="3295650"/>
            <a:ext cx="0" cy="214313"/>
          </a:xfrm>
          <a:prstGeom prst="rect">
            <a:avLst/>
          </a:prstGeom>
          <a:noFill/>
          <a:ln/>
        </p:spPr>
        <p:txBody>
          <a:bodyPr wrap="square" lIns="0" tIns="0" rIns="0" bIns="0" rtlCol="0" anchor="t"/>
          <a:lstStyle/>
          <a:p>
            <a:pPr indent="0" marL="0">
              <a:buNone/>
            </a:pPr>
            <a:endParaRPr lang="en-US" dirty="0"/>
          </a:p>
        </p:txBody>
      </p:sp>
      <p:sp>
        <p:nvSpPr>
          <p:cNvPr id="6" name="Text 3"/>
          <p:cNvSpPr/>
          <p:nvPr/>
        </p:nvSpPr>
        <p:spPr>
          <a:xfrm>
            <a:off x="285750" y="1385888"/>
            <a:ext cx="7143750" cy="204788"/>
          </a:xfrm>
          <a:prstGeom prst="rect">
            <a:avLst/>
          </a:prstGeom>
          <a:noFill/>
          <a:ln/>
        </p:spPr>
        <p:txBody>
          <a:bodyPr wrap="square" lIns="0" tIns="0" rIns="0" bIns="0" rtlCol="0" anchor="t"/>
          <a:lstStyle/>
          <a:p>
            <a:pPr algn="l" indent="0" marL="0">
              <a:lnSpc>
                <a:spcPts val="1539"/>
              </a:lnSpc>
              <a:buNone/>
            </a:pPr>
            <a:r>
              <a:rPr lang="en-US" sz="1283" b="1" spc="-26" kern="0" dirty="0">
                <a:solidFill>
                  <a:srgbClr val="FFFFFF">
                    <a:alpha val="99000"/>
                  </a:srgbClr>
                </a:solidFill>
                <a:latin typeface="Inter" pitchFamily="34" charset="0"/>
                <a:ea typeface="Inter" pitchFamily="34" charset="-122"/>
                <a:cs typeface="Inter" pitchFamily="34" charset="-120"/>
              </a:rPr>
              <a:t>Product Team Final Presentation</a:t>
            </a:r>
            <a:endParaRPr lang="en-US" sz="1283" dirty="0"/>
          </a:p>
        </p:txBody>
      </p:sp>
      <p:sp>
        <p:nvSpPr>
          <p:cNvPr id="7" name="Text 4"/>
          <p:cNvSpPr/>
          <p:nvPr/>
        </p:nvSpPr>
        <p:spPr>
          <a:xfrm>
            <a:off x="476250" y="4452938"/>
            <a:ext cx="8139112" cy="214313"/>
          </a:xfrm>
          <a:prstGeom prst="rect">
            <a:avLst/>
          </a:prstGeom>
          <a:noFill/>
          <a:ln/>
        </p:spPr>
        <p:txBody>
          <a:bodyPr wrap="square" lIns="0" tIns="0" rIns="0" bIns="0" rtlCol="0" anchor="t"/>
          <a:lstStyle/>
          <a:p>
            <a:pPr algn="l" indent="0" marL="0">
              <a:lnSpc>
                <a:spcPts val="1596"/>
              </a:lnSpc>
              <a:buNone/>
            </a:pPr>
            <a:r>
              <a:rPr lang="en-US" sz="1140" dirty="0">
                <a:solidFill>
                  <a:srgbClr val="FFFFFF">
                    <a:alpha val="99000"/>
                  </a:srgbClr>
                </a:solidFill>
                <a:latin typeface="SF Compact" pitchFamily="34" charset="0"/>
                <a:ea typeface="SF Compact" pitchFamily="34" charset="-122"/>
                <a:cs typeface="SF Compact" pitchFamily="34" charset="-120"/>
              </a:rPr>
              <a:t>By Prateek Nedungadi</a:t>
            </a:r>
            <a:endParaRPr lang="en-US" sz="1140" dirty="0"/>
          </a:p>
        </p:txBody>
      </p:sp>
      <p:pic>
        <p:nvPicPr>
          <p:cNvPr id="8" name="Image 1" descr="preencoded.png">    </p:cNvPr>
          <p:cNvPicPr>
            <a:picLocks noChangeAspect="1"/>
          </p:cNvPicPr>
          <p:nvPr/>
        </p:nvPicPr>
        <p:blipFill>
          <a:blip r:embed="rId2"/>
          <a:srcRect l="0" r="0" t="0" b="0"/>
          <a:stretch/>
        </p:blipFill>
        <p:spPr>
          <a:xfrm>
            <a:off x="2509838" y="766763"/>
            <a:ext cx="6872288" cy="36052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28575"/>
            <a:ext cx="9144000" cy="5557838"/>
          </a:xfrm>
          <a:prstGeom prst="rect">
            <a:avLst/>
          </a:prstGeom>
          <a:noFill/>
          <a:ln/>
        </p:spPr>
      </p:sp>
      <p:sp>
        <p:nvSpPr>
          <p:cNvPr id="3" name="Shape 1"/>
          <p:cNvSpPr/>
          <p:nvPr/>
        </p:nvSpPr>
        <p:spPr>
          <a:xfrm>
            <a:off x="0" y="-28575"/>
            <a:ext cx="8286750" cy="5557838"/>
          </a:xfrm>
          <a:prstGeom prst="rect">
            <a:avLst/>
          </a:prstGeom>
          <a:noFill/>
          <a:ln/>
        </p:spPr>
      </p:sp>
      <p:sp>
        <p:nvSpPr>
          <p:cNvPr id="4" name="Text 2"/>
          <p:cNvSpPr/>
          <p:nvPr/>
        </p:nvSpPr>
        <p:spPr>
          <a:xfrm>
            <a:off x="476250" y="447675"/>
            <a:ext cx="7334250" cy="490538"/>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Table of Contents</a:t>
            </a:r>
            <a:endParaRPr lang="en-US" sz="3064" dirty="0"/>
          </a:p>
        </p:txBody>
      </p:sp>
      <p:sp>
        <p:nvSpPr>
          <p:cNvPr id="5" name="Shape 3"/>
          <p:cNvSpPr/>
          <p:nvPr/>
        </p:nvSpPr>
        <p:spPr>
          <a:xfrm>
            <a:off x="476250" y="1519238"/>
            <a:ext cx="7334250" cy="3533775"/>
          </a:xfrm>
          <a:prstGeom prst="rect">
            <a:avLst/>
          </a:prstGeom>
          <a:noFill/>
          <a:ln/>
        </p:spPr>
      </p:sp>
      <p:sp>
        <p:nvSpPr>
          <p:cNvPr id="6" name="Shape 4"/>
          <p:cNvSpPr/>
          <p:nvPr/>
        </p:nvSpPr>
        <p:spPr>
          <a:xfrm>
            <a:off x="476250" y="1519238"/>
            <a:ext cx="7334250" cy="700088"/>
          </a:xfrm>
          <a:prstGeom prst="rect">
            <a:avLst/>
          </a:prstGeom>
          <a:noFill/>
          <a:ln/>
        </p:spPr>
      </p:sp>
      <p:sp>
        <p:nvSpPr>
          <p:cNvPr id="7" name="Shape 5"/>
          <p:cNvSpPr/>
          <p:nvPr/>
        </p:nvSpPr>
        <p:spPr>
          <a:xfrm>
            <a:off x="476250" y="1519238"/>
            <a:ext cx="2254250" cy="700088"/>
          </a:xfrm>
          <a:prstGeom prst="rect">
            <a:avLst/>
          </a:prstGeom>
          <a:noFill/>
          <a:ln/>
        </p:spPr>
      </p:sp>
      <p:sp>
        <p:nvSpPr>
          <p:cNvPr id="8" name="Text 6"/>
          <p:cNvSpPr/>
          <p:nvPr/>
        </p:nvSpPr>
        <p:spPr>
          <a:xfrm>
            <a:off x="476250" y="1519238"/>
            <a:ext cx="2254250" cy="304800"/>
          </a:xfrm>
          <a:prstGeom prst="rect">
            <a:avLst/>
          </a:prstGeom>
          <a:noFill/>
          <a:ln/>
        </p:spPr>
        <p:txBody>
          <a:bodyPr wrap="square" lIns="0" tIns="0" rIns="0" bIns="0" rtlCol="0" anchor="t"/>
          <a:lstStyle/>
          <a:p>
            <a:pPr algn="l" indent="0" marL="0">
              <a:lnSpc>
                <a:spcPts val="2280"/>
              </a:lnSpc>
              <a:buNone/>
            </a:pPr>
            <a:r>
              <a:rPr lang="en-US" sz="2280" dirty="0">
                <a:solidFill>
                  <a:srgbClr val="000000">
                    <a:alpha val="99000"/>
                  </a:srgbClr>
                </a:solidFill>
                <a:latin typeface="SF Pro" pitchFamily="34" charset="0"/>
                <a:ea typeface="SF Pro" pitchFamily="34" charset="-122"/>
                <a:cs typeface="SF Pro" pitchFamily="34" charset="-120"/>
              </a:rPr>
              <a:t>01</a:t>
            </a:r>
            <a:endParaRPr lang="en-US" sz="2280" dirty="0"/>
          </a:p>
        </p:txBody>
      </p:sp>
      <p:sp>
        <p:nvSpPr>
          <p:cNvPr id="9" name="Shape 7"/>
          <p:cNvSpPr/>
          <p:nvPr/>
        </p:nvSpPr>
        <p:spPr>
          <a:xfrm>
            <a:off x="476250" y="2014538"/>
            <a:ext cx="2254250" cy="204788"/>
          </a:xfrm>
          <a:prstGeom prst="rect">
            <a:avLst/>
          </a:prstGeom>
          <a:noFill/>
          <a:ln/>
        </p:spPr>
      </p:sp>
      <p:sp>
        <p:nvSpPr>
          <p:cNvPr id="10" name="Text 8"/>
          <p:cNvSpPr/>
          <p:nvPr/>
        </p:nvSpPr>
        <p:spPr>
          <a:xfrm>
            <a:off x="476250" y="2014538"/>
            <a:ext cx="2254250" cy="204788"/>
          </a:xfrm>
          <a:prstGeom prst="rect">
            <a:avLst/>
          </a:prstGeom>
          <a:noFill/>
          <a:ln/>
        </p:spPr>
        <p:txBody>
          <a:bodyPr wrap="square" lIns="0" tIns="0" rIns="0" bIns="0" rtlCol="0" anchor="t"/>
          <a:lstStyle/>
          <a:p>
            <a:pPr algn="l" indent="0" marL="0">
              <a:lnSpc>
                <a:spcPts val="1539"/>
              </a:lnSpc>
              <a:buNone/>
            </a:pPr>
            <a:r>
              <a:rPr lang="en-US" sz="1283" dirty="0">
                <a:solidFill>
                  <a:srgbClr val="000000">
                    <a:alpha val="99000"/>
                  </a:srgbClr>
                </a:solidFill>
                <a:latin typeface="SF Compact" pitchFamily="34" charset="0"/>
                <a:ea typeface="SF Compact" pitchFamily="34" charset="-122"/>
                <a:cs typeface="SF Compact" pitchFamily="34" charset="-120"/>
              </a:rPr>
              <a:t>Overview of Health</a:t>
            </a:r>
            <a:endParaRPr lang="en-US" sz="1283" dirty="0"/>
          </a:p>
        </p:txBody>
      </p:sp>
      <p:sp>
        <p:nvSpPr>
          <p:cNvPr id="11" name="Shape 9"/>
          <p:cNvSpPr/>
          <p:nvPr/>
        </p:nvSpPr>
        <p:spPr>
          <a:xfrm>
            <a:off x="3016251" y="1519238"/>
            <a:ext cx="2254250" cy="700088"/>
          </a:xfrm>
          <a:prstGeom prst="rect">
            <a:avLst/>
          </a:prstGeom>
          <a:noFill/>
          <a:ln/>
        </p:spPr>
      </p:sp>
      <p:sp>
        <p:nvSpPr>
          <p:cNvPr id="12" name="Text 10"/>
          <p:cNvSpPr/>
          <p:nvPr/>
        </p:nvSpPr>
        <p:spPr>
          <a:xfrm>
            <a:off x="3016251" y="1519238"/>
            <a:ext cx="2254250" cy="304800"/>
          </a:xfrm>
          <a:prstGeom prst="rect">
            <a:avLst/>
          </a:prstGeom>
          <a:noFill/>
          <a:ln/>
        </p:spPr>
        <p:txBody>
          <a:bodyPr wrap="square" lIns="0" tIns="0" rIns="0" bIns="0" rtlCol="0" anchor="t"/>
          <a:lstStyle/>
          <a:p>
            <a:pPr algn="l" indent="0" marL="0">
              <a:lnSpc>
                <a:spcPts val="2280"/>
              </a:lnSpc>
              <a:buNone/>
            </a:pPr>
            <a:r>
              <a:rPr lang="en-US" sz="2280" dirty="0">
                <a:solidFill>
                  <a:srgbClr val="000000">
                    <a:alpha val="99000"/>
                  </a:srgbClr>
                </a:solidFill>
                <a:latin typeface="SF Pro" pitchFamily="34" charset="0"/>
                <a:ea typeface="SF Pro" pitchFamily="34" charset="-122"/>
                <a:cs typeface="SF Pro" pitchFamily="34" charset="-120"/>
              </a:rPr>
              <a:t>02</a:t>
            </a:r>
            <a:endParaRPr lang="en-US" sz="2280" dirty="0"/>
          </a:p>
        </p:txBody>
      </p:sp>
      <p:sp>
        <p:nvSpPr>
          <p:cNvPr id="13" name="Shape 11"/>
          <p:cNvSpPr/>
          <p:nvPr/>
        </p:nvSpPr>
        <p:spPr>
          <a:xfrm>
            <a:off x="3016251" y="2014538"/>
            <a:ext cx="2254250" cy="204788"/>
          </a:xfrm>
          <a:prstGeom prst="rect">
            <a:avLst/>
          </a:prstGeom>
          <a:noFill/>
          <a:ln/>
        </p:spPr>
      </p:sp>
      <p:sp>
        <p:nvSpPr>
          <p:cNvPr id="14" name="Text 12"/>
          <p:cNvSpPr/>
          <p:nvPr/>
        </p:nvSpPr>
        <p:spPr>
          <a:xfrm>
            <a:off x="3016251" y="2014538"/>
            <a:ext cx="2254250" cy="204788"/>
          </a:xfrm>
          <a:prstGeom prst="rect">
            <a:avLst/>
          </a:prstGeom>
          <a:noFill/>
          <a:ln/>
        </p:spPr>
        <p:txBody>
          <a:bodyPr wrap="square" lIns="0" tIns="0" rIns="0" bIns="0" rtlCol="0" anchor="t"/>
          <a:lstStyle/>
          <a:p>
            <a:pPr algn="l" indent="0" marL="0">
              <a:lnSpc>
                <a:spcPts val="1539"/>
              </a:lnSpc>
              <a:buNone/>
            </a:pPr>
            <a:r>
              <a:rPr lang="en-US" sz="1283" dirty="0">
                <a:solidFill>
                  <a:srgbClr val="000000">
                    <a:alpha val="99000"/>
                  </a:srgbClr>
                </a:solidFill>
                <a:latin typeface="SF Compact" pitchFamily="34" charset="0"/>
                <a:ea typeface="SF Compact" pitchFamily="34" charset="-122"/>
                <a:cs typeface="SF Compact" pitchFamily="34" charset="-120"/>
              </a:rPr>
              <a:t>User Research</a:t>
            </a:r>
            <a:endParaRPr lang="en-US" sz="1283" dirty="0"/>
          </a:p>
        </p:txBody>
      </p:sp>
      <p:sp>
        <p:nvSpPr>
          <p:cNvPr id="15" name="Shape 13"/>
          <p:cNvSpPr/>
          <p:nvPr/>
        </p:nvSpPr>
        <p:spPr>
          <a:xfrm>
            <a:off x="5556250" y="1519238"/>
            <a:ext cx="2254250" cy="700088"/>
          </a:xfrm>
          <a:prstGeom prst="rect">
            <a:avLst/>
          </a:prstGeom>
          <a:noFill/>
          <a:ln/>
        </p:spPr>
      </p:sp>
      <p:sp>
        <p:nvSpPr>
          <p:cNvPr id="16" name="Text 14"/>
          <p:cNvSpPr/>
          <p:nvPr/>
        </p:nvSpPr>
        <p:spPr>
          <a:xfrm>
            <a:off x="5556250" y="1519238"/>
            <a:ext cx="2254250" cy="304800"/>
          </a:xfrm>
          <a:prstGeom prst="rect">
            <a:avLst/>
          </a:prstGeom>
          <a:noFill/>
          <a:ln/>
        </p:spPr>
        <p:txBody>
          <a:bodyPr wrap="square" lIns="0" tIns="0" rIns="0" bIns="0" rtlCol="0" anchor="t"/>
          <a:lstStyle/>
          <a:p>
            <a:pPr algn="l" indent="0" marL="0">
              <a:lnSpc>
                <a:spcPts val="2280"/>
              </a:lnSpc>
              <a:buNone/>
            </a:pPr>
            <a:r>
              <a:rPr lang="en-US" sz="2280" dirty="0">
                <a:solidFill>
                  <a:srgbClr val="000000">
                    <a:alpha val="99000"/>
                  </a:srgbClr>
                </a:solidFill>
                <a:latin typeface="SF Pro" pitchFamily="34" charset="0"/>
                <a:ea typeface="SF Pro" pitchFamily="34" charset="-122"/>
                <a:cs typeface="SF Pro" pitchFamily="34" charset="-120"/>
              </a:rPr>
              <a:t>03</a:t>
            </a:r>
            <a:endParaRPr lang="en-US" sz="2280" dirty="0"/>
          </a:p>
        </p:txBody>
      </p:sp>
      <p:sp>
        <p:nvSpPr>
          <p:cNvPr id="17" name="Shape 15"/>
          <p:cNvSpPr/>
          <p:nvPr/>
        </p:nvSpPr>
        <p:spPr>
          <a:xfrm>
            <a:off x="5556250" y="2014538"/>
            <a:ext cx="2254250" cy="204788"/>
          </a:xfrm>
          <a:prstGeom prst="rect">
            <a:avLst/>
          </a:prstGeom>
          <a:noFill/>
          <a:ln/>
        </p:spPr>
      </p:sp>
      <p:sp>
        <p:nvSpPr>
          <p:cNvPr id="18" name="Text 16"/>
          <p:cNvSpPr/>
          <p:nvPr/>
        </p:nvSpPr>
        <p:spPr>
          <a:xfrm>
            <a:off x="5556250" y="2014538"/>
            <a:ext cx="2254250" cy="204788"/>
          </a:xfrm>
          <a:prstGeom prst="rect">
            <a:avLst/>
          </a:prstGeom>
          <a:noFill/>
          <a:ln/>
        </p:spPr>
        <p:txBody>
          <a:bodyPr wrap="square" lIns="0" tIns="0" rIns="0" bIns="0" rtlCol="0" anchor="t"/>
          <a:lstStyle/>
          <a:p>
            <a:pPr algn="l" indent="0" marL="0">
              <a:lnSpc>
                <a:spcPts val="1539"/>
              </a:lnSpc>
              <a:buNone/>
            </a:pPr>
            <a:r>
              <a:rPr lang="en-US" sz="1283" dirty="0">
                <a:solidFill>
                  <a:srgbClr val="000000">
                    <a:alpha val="99000"/>
                  </a:srgbClr>
                </a:solidFill>
                <a:latin typeface="SF Compact" pitchFamily="34" charset="0"/>
                <a:ea typeface="SF Compact" pitchFamily="34" charset="-122"/>
                <a:cs typeface="SF Compact" pitchFamily="34" charset="-120"/>
              </a:rPr>
              <a:t>Ideation</a:t>
            </a:r>
            <a:endParaRPr lang="en-US" sz="1283" dirty="0"/>
          </a:p>
        </p:txBody>
      </p:sp>
      <p:sp>
        <p:nvSpPr>
          <p:cNvPr id="19" name="Shape 17"/>
          <p:cNvSpPr/>
          <p:nvPr/>
        </p:nvSpPr>
        <p:spPr>
          <a:xfrm>
            <a:off x="476250" y="2871788"/>
            <a:ext cx="7334250" cy="700088"/>
          </a:xfrm>
          <a:prstGeom prst="rect">
            <a:avLst/>
          </a:prstGeom>
          <a:noFill/>
          <a:ln/>
        </p:spPr>
      </p:sp>
      <p:sp>
        <p:nvSpPr>
          <p:cNvPr id="20" name="Shape 18"/>
          <p:cNvSpPr/>
          <p:nvPr/>
        </p:nvSpPr>
        <p:spPr>
          <a:xfrm>
            <a:off x="476250" y="2871788"/>
            <a:ext cx="2254250" cy="700088"/>
          </a:xfrm>
          <a:prstGeom prst="rect">
            <a:avLst/>
          </a:prstGeom>
          <a:noFill/>
          <a:ln/>
        </p:spPr>
      </p:sp>
      <p:sp>
        <p:nvSpPr>
          <p:cNvPr id="21" name="Text 19"/>
          <p:cNvSpPr/>
          <p:nvPr/>
        </p:nvSpPr>
        <p:spPr>
          <a:xfrm>
            <a:off x="476250" y="2871788"/>
            <a:ext cx="2254250" cy="304800"/>
          </a:xfrm>
          <a:prstGeom prst="rect">
            <a:avLst/>
          </a:prstGeom>
          <a:noFill/>
          <a:ln/>
        </p:spPr>
        <p:txBody>
          <a:bodyPr wrap="square" lIns="0" tIns="0" rIns="0" bIns="0" rtlCol="0" anchor="t"/>
          <a:lstStyle/>
          <a:p>
            <a:pPr algn="l" indent="0" marL="0">
              <a:lnSpc>
                <a:spcPts val="2280"/>
              </a:lnSpc>
              <a:buNone/>
            </a:pPr>
            <a:r>
              <a:rPr lang="en-US" sz="2280" dirty="0">
                <a:solidFill>
                  <a:srgbClr val="000000">
                    <a:alpha val="99000"/>
                  </a:srgbClr>
                </a:solidFill>
                <a:latin typeface="SF Pro" pitchFamily="34" charset="0"/>
                <a:ea typeface="SF Pro" pitchFamily="34" charset="-122"/>
                <a:cs typeface="SF Pro" pitchFamily="34" charset="-120"/>
              </a:rPr>
              <a:t>04</a:t>
            </a:r>
            <a:endParaRPr lang="en-US" sz="2280" dirty="0"/>
          </a:p>
        </p:txBody>
      </p:sp>
      <p:sp>
        <p:nvSpPr>
          <p:cNvPr id="22" name="Shape 20"/>
          <p:cNvSpPr/>
          <p:nvPr/>
        </p:nvSpPr>
        <p:spPr>
          <a:xfrm>
            <a:off x="476250" y="3367088"/>
            <a:ext cx="2254250" cy="204788"/>
          </a:xfrm>
          <a:prstGeom prst="rect">
            <a:avLst/>
          </a:prstGeom>
          <a:noFill/>
          <a:ln/>
        </p:spPr>
      </p:sp>
      <p:sp>
        <p:nvSpPr>
          <p:cNvPr id="23" name="Text 21"/>
          <p:cNvSpPr/>
          <p:nvPr/>
        </p:nvSpPr>
        <p:spPr>
          <a:xfrm>
            <a:off x="476250" y="3367088"/>
            <a:ext cx="2254250" cy="204788"/>
          </a:xfrm>
          <a:prstGeom prst="rect">
            <a:avLst/>
          </a:prstGeom>
          <a:noFill/>
          <a:ln/>
        </p:spPr>
        <p:txBody>
          <a:bodyPr wrap="square" lIns="0" tIns="0" rIns="0" bIns="0" rtlCol="0" anchor="t"/>
          <a:lstStyle/>
          <a:p>
            <a:pPr algn="l" indent="0" marL="0">
              <a:lnSpc>
                <a:spcPts val="1539"/>
              </a:lnSpc>
              <a:buNone/>
            </a:pPr>
            <a:r>
              <a:rPr lang="en-US" sz="1283" dirty="0">
                <a:solidFill>
                  <a:srgbClr val="000000">
                    <a:alpha val="99000"/>
                  </a:srgbClr>
                </a:solidFill>
                <a:latin typeface="SF Compact" pitchFamily="34" charset="0"/>
                <a:ea typeface="SF Compact" pitchFamily="34" charset="-122"/>
                <a:cs typeface="SF Compact" pitchFamily="34" charset="-120"/>
              </a:rPr>
              <a:t>Value Proposition</a:t>
            </a:r>
            <a:endParaRPr lang="en-US" sz="1283" dirty="0"/>
          </a:p>
        </p:txBody>
      </p:sp>
      <p:sp>
        <p:nvSpPr>
          <p:cNvPr id="24" name="Shape 22"/>
          <p:cNvSpPr/>
          <p:nvPr/>
        </p:nvSpPr>
        <p:spPr>
          <a:xfrm>
            <a:off x="3016251" y="2871788"/>
            <a:ext cx="2254250" cy="700088"/>
          </a:xfrm>
          <a:prstGeom prst="rect">
            <a:avLst/>
          </a:prstGeom>
          <a:noFill/>
          <a:ln/>
        </p:spPr>
      </p:sp>
      <p:sp>
        <p:nvSpPr>
          <p:cNvPr id="25" name="Text 23"/>
          <p:cNvSpPr/>
          <p:nvPr/>
        </p:nvSpPr>
        <p:spPr>
          <a:xfrm>
            <a:off x="3016251" y="2871788"/>
            <a:ext cx="2254250" cy="304800"/>
          </a:xfrm>
          <a:prstGeom prst="rect">
            <a:avLst/>
          </a:prstGeom>
          <a:noFill/>
          <a:ln/>
        </p:spPr>
        <p:txBody>
          <a:bodyPr wrap="square" lIns="0" tIns="0" rIns="0" bIns="0" rtlCol="0" anchor="t"/>
          <a:lstStyle/>
          <a:p>
            <a:pPr algn="l" indent="0" marL="0">
              <a:lnSpc>
                <a:spcPts val="2280"/>
              </a:lnSpc>
              <a:buNone/>
            </a:pPr>
            <a:r>
              <a:rPr lang="en-US" sz="2280" dirty="0">
                <a:solidFill>
                  <a:srgbClr val="000000">
                    <a:alpha val="99000"/>
                  </a:srgbClr>
                </a:solidFill>
                <a:latin typeface="SF Pro" pitchFamily="34" charset="0"/>
                <a:ea typeface="SF Pro" pitchFamily="34" charset="-122"/>
                <a:cs typeface="SF Pro" pitchFamily="34" charset="-120"/>
              </a:rPr>
              <a:t>05</a:t>
            </a:r>
            <a:endParaRPr lang="en-US" sz="2280" dirty="0"/>
          </a:p>
        </p:txBody>
      </p:sp>
      <p:sp>
        <p:nvSpPr>
          <p:cNvPr id="26" name="Shape 24"/>
          <p:cNvSpPr/>
          <p:nvPr/>
        </p:nvSpPr>
        <p:spPr>
          <a:xfrm>
            <a:off x="3016251" y="3367088"/>
            <a:ext cx="2254250" cy="204788"/>
          </a:xfrm>
          <a:prstGeom prst="rect">
            <a:avLst/>
          </a:prstGeom>
          <a:noFill/>
          <a:ln/>
        </p:spPr>
      </p:sp>
      <p:sp>
        <p:nvSpPr>
          <p:cNvPr id="27" name="Text 25"/>
          <p:cNvSpPr/>
          <p:nvPr/>
        </p:nvSpPr>
        <p:spPr>
          <a:xfrm>
            <a:off x="3016251" y="3367088"/>
            <a:ext cx="2254250" cy="204788"/>
          </a:xfrm>
          <a:prstGeom prst="rect">
            <a:avLst/>
          </a:prstGeom>
          <a:noFill/>
          <a:ln/>
        </p:spPr>
        <p:txBody>
          <a:bodyPr wrap="square" lIns="0" tIns="0" rIns="0" bIns="0" rtlCol="0" anchor="t"/>
          <a:lstStyle/>
          <a:p>
            <a:pPr algn="l" indent="0" marL="0">
              <a:lnSpc>
                <a:spcPts val="1539"/>
              </a:lnSpc>
              <a:buNone/>
            </a:pPr>
            <a:r>
              <a:rPr lang="en-US" sz="1283" dirty="0">
                <a:solidFill>
                  <a:srgbClr val="000000">
                    <a:alpha val="99000"/>
                  </a:srgbClr>
                </a:solidFill>
                <a:latin typeface="SF Compact" pitchFamily="34" charset="0"/>
                <a:ea typeface="SF Compact" pitchFamily="34" charset="-122"/>
                <a:cs typeface="SF Compact" pitchFamily="34" charset="-120"/>
              </a:rPr>
              <a:t>Feature Solution</a:t>
            </a:r>
            <a:endParaRPr lang="en-US" sz="1283" dirty="0"/>
          </a:p>
        </p:txBody>
      </p:sp>
      <p:sp>
        <p:nvSpPr>
          <p:cNvPr id="28" name="Shape 26"/>
          <p:cNvSpPr/>
          <p:nvPr/>
        </p:nvSpPr>
        <p:spPr>
          <a:xfrm>
            <a:off x="5556250" y="2871788"/>
            <a:ext cx="2254250" cy="700088"/>
          </a:xfrm>
          <a:prstGeom prst="rect">
            <a:avLst/>
          </a:prstGeom>
          <a:noFill/>
          <a:ln/>
        </p:spPr>
      </p:sp>
      <p:sp>
        <p:nvSpPr>
          <p:cNvPr id="29" name="Text 27"/>
          <p:cNvSpPr/>
          <p:nvPr/>
        </p:nvSpPr>
        <p:spPr>
          <a:xfrm>
            <a:off x="5556250" y="2871788"/>
            <a:ext cx="2254250" cy="304800"/>
          </a:xfrm>
          <a:prstGeom prst="rect">
            <a:avLst/>
          </a:prstGeom>
          <a:noFill/>
          <a:ln/>
        </p:spPr>
        <p:txBody>
          <a:bodyPr wrap="square" lIns="0" tIns="0" rIns="0" bIns="0" rtlCol="0" anchor="t"/>
          <a:lstStyle/>
          <a:p>
            <a:pPr algn="l" indent="0" marL="0">
              <a:lnSpc>
                <a:spcPts val="2280"/>
              </a:lnSpc>
              <a:buNone/>
            </a:pPr>
            <a:r>
              <a:rPr lang="en-US" sz="2280" dirty="0">
                <a:solidFill>
                  <a:srgbClr val="000000">
                    <a:alpha val="99000"/>
                  </a:srgbClr>
                </a:solidFill>
                <a:latin typeface="SF Pro" pitchFamily="34" charset="0"/>
                <a:ea typeface="SF Pro" pitchFamily="34" charset="-122"/>
                <a:cs typeface="SF Pro" pitchFamily="34" charset="-120"/>
              </a:rPr>
              <a:t>06</a:t>
            </a:r>
            <a:endParaRPr lang="en-US" sz="2280" dirty="0"/>
          </a:p>
        </p:txBody>
      </p:sp>
      <p:sp>
        <p:nvSpPr>
          <p:cNvPr id="30" name="Shape 28"/>
          <p:cNvSpPr/>
          <p:nvPr/>
        </p:nvSpPr>
        <p:spPr>
          <a:xfrm>
            <a:off x="5556250" y="3367088"/>
            <a:ext cx="2254250" cy="204788"/>
          </a:xfrm>
          <a:prstGeom prst="rect">
            <a:avLst/>
          </a:prstGeom>
          <a:noFill/>
          <a:ln/>
        </p:spPr>
      </p:sp>
      <p:sp>
        <p:nvSpPr>
          <p:cNvPr id="31" name="Text 29"/>
          <p:cNvSpPr/>
          <p:nvPr/>
        </p:nvSpPr>
        <p:spPr>
          <a:xfrm>
            <a:off x="5556250" y="3367088"/>
            <a:ext cx="2254250" cy="204788"/>
          </a:xfrm>
          <a:prstGeom prst="rect">
            <a:avLst/>
          </a:prstGeom>
          <a:noFill/>
          <a:ln/>
        </p:spPr>
        <p:txBody>
          <a:bodyPr wrap="square" lIns="0" tIns="0" rIns="0" bIns="0" rtlCol="0" anchor="t"/>
          <a:lstStyle/>
          <a:p>
            <a:pPr algn="l" indent="0" marL="0">
              <a:lnSpc>
                <a:spcPts val="1539"/>
              </a:lnSpc>
              <a:buNone/>
            </a:pPr>
            <a:r>
              <a:rPr lang="en-US" sz="1283" dirty="0">
                <a:solidFill>
                  <a:srgbClr val="000000">
                    <a:alpha val="99000"/>
                  </a:srgbClr>
                </a:solidFill>
                <a:latin typeface="SF Compact" pitchFamily="34" charset="0"/>
                <a:ea typeface="SF Compact" pitchFamily="34" charset="-122"/>
                <a:cs typeface="SF Compact" pitchFamily="34" charset="-120"/>
              </a:rPr>
              <a:t>Development Plan</a:t>
            </a:r>
            <a:endParaRPr lang="en-US" sz="1283" dirty="0"/>
          </a:p>
        </p:txBody>
      </p:sp>
      <p:sp>
        <p:nvSpPr>
          <p:cNvPr id="32" name="Shape 30"/>
          <p:cNvSpPr/>
          <p:nvPr/>
        </p:nvSpPr>
        <p:spPr>
          <a:xfrm>
            <a:off x="8286750" y="0"/>
            <a:ext cx="857250" cy="5143500"/>
          </a:xfrm>
          <a:prstGeom prst="rect">
            <a:avLst/>
          </a:prstGeom>
          <a:solidFill>
            <a:srgbClr val="F5F5F7"/>
          </a:solidFill>
          <a:ln/>
        </p:spPr>
      </p:sp>
      <p:sp>
        <p:nvSpPr>
          <p:cNvPr id="33" name="Text 31"/>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Health</a:t>
            </a:r>
            <a:endParaRPr lang="en-US" sz="1283" dirty="0"/>
          </a:p>
        </p:txBody>
      </p:sp>
      <p:sp>
        <p:nvSpPr>
          <p:cNvPr id="34" name="Text 32"/>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2</a:t>
            </a:r>
            <a:endParaRPr lang="en-US" sz="1283" dirty="0"/>
          </a:p>
        </p:txBody>
      </p:sp>
      <p:pic>
        <p:nvPicPr>
          <p:cNvPr id="35" name="Image 0" descr="preencoded.png">    </p:cNvPr>
          <p:cNvPicPr>
            <a:picLocks noChangeAspect="1"/>
          </p:cNvPicPr>
          <p:nvPr/>
        </p:nvPicPr>
        <p:blipFill>
          <a:blip r:embed="rId1"/>
          <a:srcRect l="0" r="0" t="0" b="0"/>
          <a:stretch/>
        </p:blipFill>
        <p:spPr>
          <a:xfrm>
            <a:off x="7724775" y="438150"/>
            <a:ext cx="1419225" cy="8001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0"/>
            <a:ext cx="8286750" cy="5143500"/>
          </a:xfrm>
          <a:prstGeom prst="rect">
            <a:avLst/>
          </a:prstGeom>
          <a:noFill/>
          <a:ln/>
        </p:spPr>
      </p:sp>
      <p:sp>
        <p:nvSpPr>
          <p:cNvPr id="4" name="Text 2"/>
          <p:cNvSpPr/>
          <p:nvPr/>
        </p:nvSpPr>
        <p:spPr>
          <a:xfrm>
            <a:off x="476250" y="3933825"/>
            <a:ext cx="7334250" cy="733425"/>
          </a:xfrm>
          <a:prstGeom prst="rect">
            <a:avLst/>
          </a:prstGeom>
          <a:noFill/>
          <a:ln/>
        </p:spPr>
        <p:txBody>
          <a:bodyPr wrap="square" lIns="0" tIns="0" rIns="0" bIns="0" rtlCol="0" anchor="t"/>
          <a:lstStyle/>
          <a:p>
            <a:pPr algn="l" indent="0" marL="0">
              <a:lnSpc>
                <a:spcPts val="5472"/>
              </a:lnSpc>
              <a:buNone/>
            </a:pPr>
            <a:r>
              <a:rPr lang="en-US" sz="4560" u="sng" spc="-91" kern="0" dirty="0">
                <a:solidFill>
                  <a:srgbClr val="000000">
                    <a:alpha val="99000"/>
                  </a:srgbClr>
                </a:solidFill>
                <a:latin typeface="SF Pro" pitchFamily="34" charset="0"/>
                <a:ea typeface="SF Pro" pitchFamily="34" charset="-122"/>
                <a:cs typeface="SF Pro" pitchFamily="34" charset="-120"/>
              </a:rPr>
              <a:t>Intro to Company</a:t>
            </a:r>
            <a:endParaRPr lang="en-US" sz="4560" dirty="0"/>
          </a:p>
        </p:txBody>
      </p:sp>
      <p:sp>
        <p:nvSpPr>
          <p:cNvPr id="5" name="Shape 3"/>
          <p:cNvSpPr/>
          <p:nvPr/>
        </p:nvSpPr>
        <p:spPr>
          <a:xfrm>
            <a:off x="8286750" y="0"/>
            <a:ext cx="857250" cy="5143500"/>
          </a:xfrm>
          <a:prstGeom prst="rect">
            <a:avLst/>
          </a:prstGeom>
          <a:solidFill>
            <a:srgbClr val="F5F5F7"/>
          </a:solidFill>
          <a:ln/>
        </p:spPr>
      </p:sp>
      <p:sp>
        <p:nvSpPr>
          <p:cNvPr id="6" name="Text 4"/>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7" name="Text 5"/>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3</a:t>
            </a:r>
            <a:endParaRPr lang="en-US" sz="1283" dirty="0"/>
          </a:p>
        </p:txBody>
      </p:sp>
      <p:pic>
        <p:nvPicPr>
          <p:cNvPr id="8" name="Image 0" descr="preencoded.png">    </p:cNvPr>
          <p:cNvPicPr>
            <a:picLocks noChangeAspect="1"/>
          </p:cNvPicPr>
          <p:nvPr/>
        </p:nvPicPr>
        <p:blipFill>
          <a:blip r:embed="rId1"/>
          <a:srcRect l="0" r="0" t="0" b="0"/>
          <a:stretch/>
        </p:blipFill>
        <p:spPr>
          <a:xfrm>
            <a:off x="7724775" y="438150"/>
            <a:ext cx="1419225" cy="8001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0"/>
            <a:ext cx="8286750" cy="5143500"/>
          </a:xfrm>
          <a:prstGeom prst="rect">
            <a:avLst/>
          </a:prstGeom>
          <a:noFill/>
          <a:ln/>
        </p:spPr>
      </p:sp>
      <p:sp>
        <p:nvSpPr>
          <p:cNvPr id="4" name="Text 2"/>
          <p:cNvSpPr/>
          <p:nvPr/>
        </p:nvSpPr>
        <p:spPr>
          <a:xfrm>
            <a:off x="476250" y="476250"/>
            <a:ext cx="7334250" cy="490538"/>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Business Analysis</a:t>
            </a:r>
            <a:endParaRPr lang="en-US" sz="3064" dirty="0"/>
          </a:p>
        </p:txBody>
      </p:sp>
      <p:sp>
        <p:nvSpPr>
          <p:cNvPr id="5" name="Text 3"/>
          <p:cNvSpPr/>
          <p:nvPr/>
        </p:nvSpPr>
        <p:spPr>
          <a:xfrm>
            <a:off x="476250" y="3167063"/>
            <a:ext cx="7334250" cy="1500188"/>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Unique Selling Proposition (USP)</a:t>
            </a:r>
            <a:endParaRPr lang="en-US" sz="1140" dirty="0"/>
          </a:p>
          <a:p>
            <a:pPr algn="l" lvl="1" marL="6858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Seamless integration of Apple Health with Apple hardware (Watch, AirPods, iPhone) and third-party apps for passive health tracking</a:t>
            </a:r>
            <a:endParaRPr lang="en-US" sz="1140" dirty="0"/>
          </a:p>
          <a:p>
            <a:pPr algn="l" lvl="1" marL="6858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Aggregates, visualizes, and encrypts data into unified dashboards (pie charts, bar graphs, scores) for frictionless use</a:t>
            </a:r>
            <a:endParaRPr lang="en-US" sz="1140" dirty="0"/>
          </a:p>
          <a:p>
            <a:pPr algn="l" lvl="1" marL="6858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Stands apart with privacy, cross-device cohesiveness, and clinical-grade regulated features other niche apps lack</a:t>
            </a:r>
            <a:endParaRPr lang="en-US" sz="1140" dirty="0"/>
          </a:p>
        </p:txBody>
      </p:sp>
      <p:sp>
        <p:nvSpPr>
          <p:cNvPr id="6" name="Shape 4"/>
          <p:cNvSpPr/>
          <p:nvPr/>
        </p:nvSpPr>
        <p:spPr>
          <a:xfrm>
            <a:off x="8286750" y="0"/>
            <a:ext cx="857250" cy="5143500"/>
          </a:xfrm>
          <a:prstGeom prst="rect">
            <a:avLst/>
          </a:prstGeom>
          <a:solidFill>
            <a:srgbClr val="F5F5F7"/>
          </a:solidFill>
          <a:ln/>
        </p:spPr>
      </p:sp>
      <p:sp>
        <p:nvSpPr>
          <p:cNvPr id="7" name="Text 5"/>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8" name="Text 6"/>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4</a:t>
            </a:r>
            <a:endParaRPr lang="en-US" sz="1283" dirty="0"/>
          </a:p>
        </p:txBody>
      </p:sp>
      <p:sp>
        <p:nvSpPr>
          <p:cNvPr id="9" name="Text 7"/>
          <p:cNvSpPr/>
          <p:nvPr/>
        </p:nvSpPr>
        <p:spPr>
          <a:xfrm>
            <a:off x="4143375" y="1262063"/>
            <a:ext cx="3409950" cy="1714500"/>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Business Model (Revenue Streams)</a:t>
            </a:r>
            <a:endParaRPr lang="en-US" sz="1140" dirty="0"/>
          </a:p>
          <a:p>
            <a:pPr algn="l" lvl="1" marL="6858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Primarily Watch, AirPods, iPhone sales</a:t>
            </a:r>
            <a:endParaRPr lang="en-US" sz="1140" dirty="0"/>
          </a:p>
          <a:p>
            <a:pPr algn="l" lvl="1" marL="6858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Optional subscriptions: Apple Fitness+, iCloud storage plans</a:t>
            </a:r>
            <a:endParaRPr lang="en-US" sz="1140" dirty="0"/>
          </a:p>
          <a:p>
            <a:pPr algn="l" lvl="1" marL="6858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Secondary: HealthKit API commissions, AppleCare premiums</a:t>
            </a:r>
            <a:endParaRPr lang="en-US" sz="1140" dirty="0"/>
          </a:p>
          <a:p>
            <a:pPr algn="l" lvl="1" marL="6858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Partnerships with medical institutions and medtech acquisitions for expanded features</a:t>
            </a:r>
            <a:endParaRPr lang="en-US" sz="1140" dirty="0"/>
          </a:p>
        </p:txBody>
      </p:sp>
      <p:sp>
        <p:nvSpPr>
          <p:cNvPr id="10" name="Text 8"/>
          <p:cNvSpPr/>
          <p:nvPr/>
        </p:nvSpPr>
        <p:spPr>
          <a:xfrm>
            <a:off x="476250" y="1262063"/>
            <a:ext cx="3214688" cy="1714500"/>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Product and Services</a:t>
            </a:r>
            <a:endParaRPr lang="en-US" sz="1140" dirty="0"/>
          </a:p>
          <a:p>
            <a:pPr algn="l" lvl="1" marL="6858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Main product: Apple Health app—tracks health stats</a:t>
            </a:r>
            <a:endParaRPr lang="en-US" sz="1140" dirty="0"/>
          </a:p>
          <a:p>
            <a:pPr algn="l" lvl="1" marL="6858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Additional: Apple Watch—passive tracking</a:t>
            </a:r>
            <a:endParaRPr lang="en-US" sz="1140" dirty="0"/>
          </a:p>
          <a:p>
            <a:pPr algn="l" lvl="1" marL="6858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Subscription: Apple Fitness—workout subscription</a:t>
            </a:r>
            <a:endParaRPr lang="en-US" sz="1140" dirty="0"/>
          </a:p>
          <a:p>
            <a:pPr algn="l" lvl="1" marL="6858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Integration and secure data encryption</a:t>
            </a:r>
            <a:endParaRPr lang="en-US" sz="1140" dirty="0"/>
          </a:p>
        </p:txBody>
      </p:sp>
      <p:pic>
        <p:nvPicPr>
          <p:cNvPr id="11" name="Image 0" descr="preencoded.png">    </p:cNvPr>
          <p:cNvPicPr>
            <a:picLocks noChangeAspect="1"/>
          </p:cNvPicPr>
          <p:nvPr/>
        </p:nvPicPr>
        <p:blipFill>
          <a:blip r:embed="rId1"/>
          <a:srcRect l="0" r="0" t="0" b="0"/>
          <a:stretch/>
        </p:blipFill>
        <p:spPr>
          <a:xfrm>
            <a:off x="7724775" y="438150"/>
            <a:ext cx="1419225" cy="8001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0"/>
            <a:ext cx="8286750" cy="5143500"/>
          </a:xfrm>
          <a:prstGeom prst="rect">
            <a:avLst/>
          </a:prstGeom>
          <a:noFill/>
          <a:ln/>
        </p:spPr>
      </p:sp>
      <p:sp>
        <p:nvSpPr>
          <p:cNvPr id="4" name="Text 2"/>
          <p:cNvSpPr/>
          <p:nvPr/>
        </p:nvSpPr>
        <p:spPr>
          <a:xfrm>
            <a:off x="476250" y="476250"/>
            <a:ext cx="7334250" cy="490538"/>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Business Analysis</a:t>
            </a:r>
            <a:endParaRPr lang="en-US" sz="3064" dirty="0"/>
          </a:p>
        </p:txBody>
      </p:sp>
      <p:sp>
        <p:nvSpPr>
          <p:cNvPr id="5" name="Text 3"/>
          <p:cNvSpPr/>
          <p:nvPr/>
        </p:nvSpPr>
        <p:spPr>
          <a:xfrm>
            <a:off x="476250" y="4024313"/>
            <a:ext cx="7334250" cy="642938"/>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Market Segmentation</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Casual users (vitals), fitness trackers, clinical sharers, data hobbyists</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Emerging: women’s health, med patients, elderly, research</a:t>
            </a:r>
            <a:endParaRPr lang="en-US" sz="1140" dirty="0"/>
          </a:p>
        </p:txBody>
      </p:sp>
      <p:sp>
        <p:nvSpPr>
          <p:cNvPr id="6" name="Shape 4"/>
          <p:cNvSpPr/>
          <p:nvPr/>
        </p:nvSpPr>
        <p:spPr>
          <a:xfrm>
            <a:off x="8286750" y="0"/>
            <a:ext cx="857250" cy="5143500"/>
          </a:xfrm>
          <a:prstGeom prst="rect">
            <a:avLst/>
          </a:prstGeom>
          <a:solidFill>
            <a:srgbClr val="F5F5F7"/>
          </a:solidFill>
          <a:ln/>
        </p:spPr>
      </p:sp>
      <p:sp>
        <p:nvSpPr>
          <p:cNvPr id="7" name="Text 5"/>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8" name="Text 6"/>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5</a:t>
            </a:r>
            <a:endParaRPr lang="en-US" sz="1283" dirty="0"/>
          </a:p>
        </p:txBody>
      </p:sp>
      <p:sp>
        <p:nvSpPr>
          <p:cNvPr id="9" name="Text 7"/>
          <p:cNvSpPr/>
          <p:nvPr/>
        </p:nvSpPr>
        <p:spPr>
          <a:xfrm>
            <a:off x="476250" y="2747963"/>
            <a:ext cx="3786188" cy="107156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Demographics Overview</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Users: Gen Z/Millennials (18–50), higher income, college-educated</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Locations: US, Europe, East Asia, Australia</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Tech adopters, office workers, health/fitness fans</a:t>
            </a:r>
            <a:endParaRPr lang="en-US" sz="1140" dirty="0"/>
          </a:p>
        </p:txBody>
      </p:sp>
      <p:sp>
        <p:nvSpPr>
          <p:cNvPr id="10" name="Text 8"/>
          <p:cNvSpPr/>
          <p:nvPr/>
        </p:nvSpPr>
        <p:spPr>
          <a:xfrm>
            <a:off x="476250" y="1123950"/>
            <a:ext cx="3657600" cy="1500188"/>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Market Analysis</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Digital health market: $79B (2024), 11.7% annual growth</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Apple: ~20% wearables market share</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Trends: wearables, privacy, ecosystem integration</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Main competitors: MyFitnessPal, Google Fit, Samsung Health</a:t>
            </a:r>
            <a:endParaRPr lang="en-US" sz="1140" dirty="0"/>
          </a:p>
        </p:txBody>
      </p:sp>
      <p:pic>
        <p:nvPicPr>
          <p:cNvPr id="11" name="Image 0" descr="preencoded.png">    </p:cNvPr>
          <p:cNvPicPr>
            <a:picLocks noChangeAspect="1"/>
          </p:cNvPicPr>
          <p:nvPr/>
        </p:nvPicPr>
        <p:blipFill>
          <a:blip r:embed="rId1"/>
          <a:srcRect l="0" r="0" t="0" b="0"/>
          <a:stretch/>
        </p:blipFill>
        <p:spPr>
          <a:xfrm>
            <a:off x="4133850" y="1238250"/>
            <a:ext cx="3700463" cy="2100263"/>
          </a:xfrm>
          <a:prstGeom prst="rect">
            <a:avLst/>
          </a:prstGeom>
        </p:spPr>
      </p:pic>
      <p:pic>
        <p:nvPicPr>
          <p:cNvPr id="12" name="Image 1" descr="preencoded.png">    </p:cNvPr>
          <p:cNvPicPr>
            <a:picLocks noChangeAspect="1"/>
          </p:cNvPicPr>
          <p:nvPr/>
        </p:nvPicPr>
        <p:blipFill>
          <a:blip r:embed="rId2"/>
          <a:srcRect l="0" r="0" t="0" b="0"/>
          <a:stretch/>
        </p:blipFill>
        <p:spPr>
          <a:xfrm>
            <a:off x="7724775" y="438150"/>
            <a:ext cx="1419225" cy="8001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0"/>
            <a:ext cx="8286750" cy="5143500"/>
          </a:xfrm>
          <a:prstGeom prst="rect">
            <a:avLst/>
          </a:prstGeom>
          <a:noFill/>
          <a:ln/>
        </p:spPr>
      </p:sp>
      <p:sp>
        <p:nvSpPr>
          <p:cNvPr id="4" name="Text 2"/>
          <p:cNvSpPr/>
          <p:nvPr/>
        </p:nvSpPr>
        <p:spPr>
          <a:xfrm>
            <a:off x="476250" y="3933825"/>
            <a:ext cx="7334250" cy="733425"/>
          </a:xfrm>
          <a:prstGeom prst="rect">
            <a:avLst/>
          </a:prstGeom>
          <a:noFill/>
          <a:ln/>
        </p:spPr>
        <p:txBody>
          <a:bodyPr wrap="square" lIns="0" tIns="0" rIns="0" bIns="0" rtlCol="0" anchor="t"/>
          <a:lstStyle/>
          <a:p>
            <a:pPr algn="l" indent="0" marL="0">
              <a:lnSpc>
                <a:spcPts val="5472"/>
              </a:lnSpc>
              <a:buNone/>
            </a:pPr>
            <a:r>
              <a:rPr lang="en-US" sz="4560" u="sng" spc="-91" kern="0" dirty="0">
                <a:solidFill>
                  <a:srgbClr val="000000">
                    <a:alpha val="99000"/>
                  </a:srgbClr>
                </a:solidFill>
                <a:latin typeface="SF Pro" pitchFamily="34" charset="0"/>
                <a:ea typeface="SF Pro" pitchFamily="34" charset="-122"/>
                <a:cs typeface="SF Pro" pitchFamily="34" charset="-120"/>
              </a:rPr>
              <a:t>User Research</a:t>
            </a:r>
            <a:endParaRPr lang="en-US" sz="4560" dirty="0"/>
          </a:p>
        </p:txBody>
      </p:sp>
      <p:sp>
        <p:nvSpPr>
          <p:cNvPr id="5" name="Shape 3"/>
          <p:cNvSpPr/>
          <p:nvPr/>
        </p:nvSpPr>
        <p:spPr>
          <a:xfrm>
            <a:off x="8286750" y="0"/>
            <a:ext cx="857250" cy="5143500"/>
          </a:xfrm>
          <a:prstGeom prst="rect">
            <a:avLst/>
          </a:prstGeom>
          <a:solidFill>
            <a:srgbClr val="F5F5F7"/>
          </a:solidFill>
          <a:ln/>
        </p:spPr>
      </p:sp>
      <p:sp>
        <p:nvSpPr>
          <p:cNvPr id="6" name="Text 4"/>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7" name="Text 5"/>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6</a:t>
            </a:r>
            <a:endParaRPr lang="en-US" sz="1283" dirty="0"/>
          </a:p>
        </p:txBody>
      </p:sp>
      <p:pic>
        <p:nvPicPr>
          <p:cNvPr id="8" name="Image 0" descr="preencoded.png">    </p:cNvPr>
          <p:cNvPicPr>
            <a:picLocks noChangeAspect="1"/>
          </p:cNvPicPr>
          <p:nvPr/>
        </p:nvPicPr>
        <p:blipFill>
          <a:blip r:embed="rId1"/>
          <a:srcRect l="0" r="0" t="0" b="0"/>
          <a:stretch/>
        </p:blipFill>
        <p:spPr>
          <a:xfrm>
            <a:off x="7724775" y="438150"/>
            <a:ext cx="1419225" cy="8001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0"/>
            <a:ext cx="8286750" cy="5143500"/>
          </a:xfrm>
          <a:prstGeom prst="rect">
            <a:avLst/>
          </a:prstGeom>
          <a:noFill/>
          <a:ln/>
        </p:spPr>
      </p:sp>
      <p:sp>
        <p:nvSpPr>
          <p:cNvPr id="4" name="Text 2"/>
          <p:cNvSpPr/>
          <p:nvPr/>
        </p:nvSpPr>
        <p:spPr>
          <a:xfrm>
            <a:off x="466725" y="476250"/>
            <a:ext cx="7343775" cy="490538"/>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Research Brief</a:t>
            </a:r>
            <a:endParaRPr lang="en-US" sz="3064" dirty="0"/>
          </a:p>
        </p:txBody>
      </p:sp>
      <p:sp>
        <p:nvSpPr>
          <p:cNvPr id="5" name="Shape 3"/>
          <p:cNvSpPr/>
          <p:nvPr/>
        </p:nvSpPr>
        <p:spPr>
          <a:xfrm>
            <a:off x="466725" y="1509713"/>
            <a:ext cx="7343775" cy="3000375"/>
          </a:xfrm>
          <a:prstGeom prst="rect">
            <a:avLst/>
          </a:prstGeom>
          <a:noFill/>
          <a:ln/>
        </p:spPr>
      </p:sp>
      <p:sp>
        <p:nvSpPr>
          <p:cNvPr id="6" name="Text 4"/>
          <p:cNvSpPr/>
          <p:nvPr/>
        </p:nvSpPr>
        <p:spPr>
          <a:xfrm>
            <a:off x="466725" y="1509713"/>
            <a:ext cx="1947863" cy="278606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Motivation</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Understand prevalent use cases and most frustrating features</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Focused on improving core user experience to retain users, not niche specialization</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Central goal: prevent current users from switching to competitor apps (reduce frustration, increase ease)</a:t>
            </a:r>
            <a:endParaRPr lang="en-US" sz="1140" dirty="0"/>
          </a:p>
        </p:txBody>
      </p:sp>
      <p:sp>
        <p:nvSpPr>
          <p:cNvPr id="7" name="Text 5"/>
          <p:cNvSpPr/>
          <p:nvPr/>
        </p:nvSpPr>
        <p:spPr>
          <a:xfrm>
            <a:off x="3157538" y="1509713"/>
            <a:ext cx="1795463" cy="3000375"/>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Scope</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Targeted users with broad use of Apple Health </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Focused on frequent, general users for insights into the most common recurring pain points</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Excluded niche/specialized users to standardize data for typical experience improvements</a:t>
            </a:r>
            <a:endParaRPr lang="en-US" sz="1140" dirty="0"/>
          </a:p>
        </p:txBody>
      </p:sp>
      <p:sp>
        <p:nvSpPr>
          <p:cNvPr id="8" name="Text 6"/>
          <p:cNvSpPr/>
          <p:nvPr/>
        </p:nvSpPr>
        <p:spPr>
          <a:xfrm>
            <a:off x="5695950" y="1509713"/>
            <a:ext cx="2114550" cy="3000375"/>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Demographics</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Apple device owners (iPhone, MacBook, iPad), mostly in the Apple ecosystem</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Ages 18–29, especially college students and early career professionals</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New York-based, middle to high income, fitness-conscious, short on time, overlapping heavily with Apple’s primary hardware user base</a:t>
            </a:r>
            <a:endParaRPr lang="en-US" sz="1140" dirty="0"/>
          </a:p>
        </p:txBody>
      </p:sp>
      <p:sp>
        <p:nvSpPr>
          <p:cNvPr id="9" name="Shape 7"/>
          <p:cNvSpPr/>
          <p:nvPr/>
        </p:nvSpPr>
        <p:spPr>
          <a:xfrm>
            <a:off x="8286750" y="0"/>
            <a:ext cx="857250" cy="5143500"/>
          </a:xfrm>
          <a:prstGeom prst="rect">
            <a:avLst/>
          </a:prstGeom>
          <a:solidFill>
            <a:srgbClr val="F5F5F7"/>
          </a:solidFill>
          <a:ln/>
        </p:spPr>
      </p:sp>
      <p:sp>
        <p:nvSpPr>
          <p:cNvPr id="10" name="Text 8"/>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11" name="Text 9"/>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7</a:t>
            </a:r>
            <a:endParaRPr lang="en-US" sz="1283" dirty="0"/>
          </a:p>
        </p:txBody>
      </p:sp>
      <p:pic>
        <p:nvPicPr>
          <p:cNvPr id="12" name="Image 0" descr="preencoded.png">    </p:cNvPr>
          <p:cNvPicPr>
            <a:picLocks noChangeAspect="1"/>
          </p:cNvPicPr>
          <p:nvPr/>
        </p:nvPicPr>
        <p:blipFill>
          <a:blip r:embed="rId1"/>
          <a:srcRect l="0" r="0" t="0" b="0"/>
          <a:stretch/>
        </p:blipFill>
        <p:spPr>
          <a:xfrm>
            <a:off x="7724775" y="438150"/>
            <a:ext cx="1419225" cy="8001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7"/>
        </a:solidFill>
      </p:bgPr>
    </p:bg>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noFill/>
          <a:ln/>
        </p:spPr>
      </p:sp>
      <p:sp>
        <p:nvSpPr>
          <p:cNvPr id="4" name="Shape 1"/>
          <p:cNvSpPr/>
          <p:nvPr/>
        </p:nvSpPr>
        <p:spPr>
          <a:xfrm>
            <a:off x="0" y="0"/>
            <a:ext cx="8286750" cy="5143500"/>
          </a:xfrm>
          <a:prstGeom prst="rect">
            <a:avLst/>
          </a:prstGeom>
          <a:noFill/>
          <a:ln/>
        </p:spPr>
      </p:sp>
      <p:sp>
        <p:nvSpPr>
          <p:cNvPr id="5" name="Shape 2"/>
          <p:cNvSpPr/>
          <p:nvPr/>
        </p:nvSpPr>
        <p:spPr>
          <a:xfrm>
            <a:off x="0" y="0"/>
            <a:ext cx="4476750" cy="5143500"/>
          </a:xfrm>
          <a:prstGeom prst="rect">
            <a:avLst/>
          </a:prstGeom>
          <a:noFill/>
          <a:ln/>
        </p:spPr>
      </p:sp>
      <p:sp>
        <p:nvSpPr>
          <p:cNvPr id="6" name="Text 3"/>
          <p:cNvSpPr/>
          <p:nvPr/>
        </p:nvSpPr>
        <p:spPr>
          <a:xfrm>
            <a:off x="476250" y="476250"/>
            <a:ext cx="3524250" cy="490538"/>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Insight Extraction</a:t>
            </a:r>
            <a:endParaRPr lang="en-US" sz="3064" dirty="0"/>
          </a:p>
        </p:txBody>
      </p:sp>
      <p:sp>
        <p:nvSpPr>
          <p:cNvPr id="7" name="Text 4"/>
          <p:cNvSpPr/>
          <p:nvPr/>
        </p:nvSpPr>
        <p:spPr>
          <a:xfrm>
            <a:off x="476250" y="1252538"/>
            <a:ext cx="3524250" cy="3414713"/>
          </a:xfrm>
          <a:prstGeom prst="rect">
            <a:avLst/>
          </a:prstGeom>
          <a:noFill/>
          <a:ln/>
        </p:spPr>
        <p:txBody>
          <a:bodyPr wrap="square" lIns="0" tIns="0" rIns="0" bIns="0" rtlCol="0" anchor="b"/>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Interviewed 3 NYU students and 1 full time SWE </a:t>
            </a:r>
            <a:endParaRPr lang="en-US" sz="1140" dirty="0"/>
          </a:p>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Key Pain Points</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Data feels inaccurate or incomplete</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Health data can’t be easily edited or customized</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Data is mostly raw numbers/statistics without much built-in meaning or actionable context</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Custom data ranges, more summaries, and easier ways to interpret and use health trends</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More visibility  (widgets, summaries) so users are reminded of their data and progress</a:t>
            </a:r>
            <a:endParaRPr lang="en-US" sz="1140" dirty="0"/>
          </a:p>
        </p:txBody>
      </p:sp>
      <p:sp>
        <p:nvSpPr>
          <p:cNvPr id="8" name="Shape 5"/>
          <p:cNvSpPr/>
          <p:nvPr/>
        </p:nvSpPr>
        <p:spPr>
          <a:xfrm>
            <a:off x="4476750" y="0"/>
            <a:ext cx="3810000" cy="5143500"/>
          </a:xfrm>
          <a:prstGeom prst="rect">
            <a:avLst/>
          </a:prstGeom>
          <a:solidFill>
            <a:srgbClr val="F5F5F7"/>
          </a:solidFill>
          <a:ln/>
        </p:spPr>
      </p:sp>
      <p:sp>
        <p:nvSpPr>
          <p:cNvPr id="9" name="Text 6"/>
          <p:cNvSpPr/>
          <p:nvPr/>
        </p:nvSpPr>
        <p:spPr>
          <a:xfrm>
            <a:off x="4953000" y="476250"/>
            <a:ext cx="2857500" cy="4191000"/>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“Whenever I run, like, on a treadmill, [the Apple Watch miles ran and step count data] is completely different than the treadmill’s”</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Mia Loran</a:t>
            </a:r>
            <a:endParaRPr lang="en-US" sz="1140" dirty="0"/>
          </a:p>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“I mean, if you take a nap, it doesn’t count, Apple Watch won’t count it as a sleep”</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Eric Tsai</a:t>
            </a:r>
            <a:endParaRPr lang="en-US" sz="1140" dirty="0"/>
          </a:p>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“I think maybe if I could make my custom, like intervals that I want to check, like, maybe I want to see, like how I’ve been making progress over the last 10 days”</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Rahul Nair</a:t>
            </a:r>
            <a:endParaRPr lang="en-US" sz="1140" dirty="0"/>
          </a:p>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“No, I cannot edit some of of the data, only like the basic information of height and weight”</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Eric Tsai</a:t>
            </a:r>
            <a:endParaRPr lang="en-US" sz="1140" dirty="0"/>
          </a:p>
        </p:txBody>
      </p:sp>
      <p:sp>
        <p:nvSpPr>
          <p:cNvPr id="10" name="Shape 7"/>
          <p:cNvSpPr/>
          <p:nvPr/>
        </p:nvSpPr>
        <p:spPr>
          <a:xfrm>
            <a:off x="8286750" y="0"/>
            <a:ext cx="857250" cy="5143500"/>
          </a:xfrm>
          <a:prstGeom prst="rect">
            <a:avLst/>
          </a:prstGeom>
          <a:solidFill>
            <a:srgbClr val="F5F5F7"/>
          </a:solidFill>
          <a:ln/>
        </p:spPr>
      </p:sp>
      <p:sp>
        <p:nvSpPr>
          <p:cNvPr id="11" name="Text 8"/>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12" name="Text 9"/>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8</a:t>
            </a:r>
            <a:endParaRPr lang="en-US" sz="1283" dirty="0"/>
          </a:p>
        </p:txBody>
      </p:sp>
      <p:pic>
        <p:nvPicPr>
          <p:cNvPr id="13" name="Image 0" descr="preencoded.png">    </p:cNvPr>
          <p:cNvPicPr>
            <a:picLocks noChangeAspect="1"/>
          </p:cNvPicPr>
          <p:nvPr/>
        </p:nvPicPr>
        <p:blipFill>
          <a:blip r:embed="rId1"/>
          <a:srcRect l="0" r="0" t="0" b="0"/>
          <a:stretch/>
        </p:blipFill>
        <p:spPr>
          <a:xfrm>
            <a:off x="7724775" y="438150"/>
            <a:ext cx="1419225" cy="8001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pic>
        <p:nvPicPr>
          <p:cNvPr id="3" name="Image 0" descr="preencoded.png">    </p:cNvPr>
          <p:cNvPicPr>
            <a:picLocks noChangeAspect="1"/>
          </p:cNvPicPr>
          <p:nvPr/>
        </p:nvPicPr>
        <p:blipFill>
          <a:blip r:embed="rId1"/>
          <a:srcRect l="0" r="0" t="0" b="0"/>
          <a:stretch/>
        </p:blipFill>
        <p:spPr>
          <a:xfrm>
            <a:off x="0" y="0"/>
            <a:ext cx="8286750" cy="5143500"/>
          </a:xfrm>
          <a:prstGeom prst="rect">
            <a:avLst/>
          </a:prstGeom>
        </p:spPr>
      </p:pic>
      <p:sp>
        <p:nvSpPr>
          <p:cNvPr id="4" name="Shape 1"/>
          <p:cNvSpPr/>
          <p:nvPr/>
        </p:nvSpPr>
        <p:spPr>
          <a:xfrm>
            <a:off x="8286750" y="0"/>
            <a:ext cx="857250" cy="5143500"/>
          </a:xfrm>
          <a:prstGeom prst="rect">
            <a:avLst/>
          </a:prstGeom>
          <a:solidFill>
            <a:srgbClr val="F5F5F7"/>
          </a:solidFill>
          <a:ln/>
        </p:spPr>
      </p:sp>
      <p:sp>
        <p:nvSpPr>
          <p:cNvPr id="5" name="Text 2"/>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6" name="Text 3"/>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9</a:t>
            </a:r>
            <a:endParaRPr lang="en-US" sz="1283" dirty="0"/>
          </a:p>
        </p:txBody>
      </p:sp>
      <p:pic>
        <p:nvPicPr>
          <p:cNvPr id="7" name="Image 1" descr="preencoded.png">    </p:cNvPr>
          <p:cNvPicPr>
            <a:picLocks noChangeAspect="1"/>
          </p:cNvPicPr>
          <p:nvPr/>
        </p:nvPicPr>
        <p:blipFill>
          <a:blip r:embed="rId2"/>
          <a:srcRect l="0" r="0" t="0" b="3052"/>
          <a:stretch/>
        </p:blipFill>
        <p:spPr>
          <a:xfrm>
            <a:off x="1309688" y="-80962"/>
            <a:ext cx="6762750" cy="5143500"/>
          </a:xfrm>
          <a:prstGeom prst="rect">
            <a:avLst/>
          </a:prstGeom>
        </p:spPr>
      </p:pic>
      <p:sp>
        <p:nvSpPr>
          <p:cNvPr id="8" name="Text 4"/>
          <p:cNvSpPr/>
          <p:nvPr/>
        </p:nvSpPr>
        <p:spPr>
          <a:xfrm>
            <a:off x="214313" y="433388"/>
            <a:ext cx="1414463" cy="1471613"/>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Pain Points</a:t>
            </a:r>
            <a:endParaRPr lang="en-US" sz="3064" dirty="0"/>
          </a:p>
        </p:txBody>
      </p:sp>
      <p:pic>
        <p:nvPicPr>
          <p:cNvPr id="9" name="Image 2" descr="preencoded.png">    </p:cNvPr>
          <p:cNvPicPr>
            <a:picLocks noChangeAspect="1"/>
          </p:cNvPicPr>
          <p:nvPr/>
        </p:nvPicPr>
        <p:blipFill>
          <a:blip r:embed="rId3"/>
          <a:srcRect l="0" r="0" t="0" b="0"/>
          <a:stretch/>
        </p:blipFill>
        <p:spPr>
          <a:xfrm>
            <a:off x="7724775" y="438150"/>
            <a:ext cx="1419225" cy="8001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0"/>
            <a:ext cx="8286750" cy="5143500"/>
          </a:xfrm>
          <a:prstGeom prst="rect">
            <a:avLst/>
          </a:prstGeom>
          <a:noFill/>
          <a:ln/>
        </p:spPr>
      </p:sp>
      <p:sp>
        <p:nvSpPr>
          <p:cNvPr id="4" name="Text 2"/>
          <p:cNvSpPr/>
          <p:nvPr/>
        </p:nvSpPr>
        <p:spPr>
          <a:xfrm>
            <a:off x="476250" y="3933825"/>
            <a:ext cx="7334250" cy="733425"/>
          </a:xfrm>
          <a:prstGeom prst="rect">
            <a:avLst/>
          </a:prstGeom>
          <a:noFill/>
          <a:ln/>
        </p:spPr>
        <p:txBody>
          <a:bodyPr wrap="square" lIns="0" tIns="0" rIns="0" bIns="0" rtlCol="0" anchor="t"/>
          <a:lstStyle/>
          <a:p>
            <a:pPr algn="l" indent="0" marL="0">
              <a:lnSpc>
                <a:spcPts val="5472"/>
              </a:lnSpc>
              <a:buNone/>
            </a:pPr>
            <a:r>
              <a:rPr lang="en-US" sz="4560" u="sng" spc="-91" kern="0" dirty="0">
                <a:solidFill>
                  <a:srgbClr val="000000">
                    <a:alpha val="99000"/>
                  </a:srgbClr>
                </a:solidFill>
                <a:latin typeface="SF Pro" pitchFamily="34" charset="0"/>
                <a:ea typeface="SF Pro" pitchFamily="34" charset="-122"/>
                <a:cs typeface="SF Pro" pitchFamily="34" charset="-120"/>
              </a:rPr>
              <a:t>Solution Ideation</a:t>
            </a:r>
            <a:endParaRPr lang="en-US" sz="4560" dirty="0"/>
          </a:p>
        </p:txBody>
      </p:sp>
      <p:sp>
        <p:nvSpPr>
          <p:cNvPr id="5" name="Shape 3"/>
          <p:cNvSpPr/>
          <p:nvPr/>
        </p:nvSpPr>
        <p:spPr>
          <a:xfrm>
            <a:off x="8286750" y="0"/>
            <a:ext cx="857250" cy="5143500"/>
          </a:xfrm>
          <a:prstGeom prst="rect">
            <a:avLst/>
          </a:prstGeom>
          <a:solidFill>
            <a:srgbClr val="F5F5F7"/>
          </a:solidFill>
          <a:ln/>
        </p:spPr>
      </p:sp>
      <p:sp>
        <p:nvSpPr>
          <p:cNvPr id="6" name="Text 4"/>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7" name="Text 5"/>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10</a:t>
            </a:r>
            <a:endParaRPr lang="en-US" sz="1283" dirty="0"/>
          </a:p>
        </p:txBody>
      </p:sp>
      <p:pic>
        <p:nvPicPr>
          <p:cNvPr id="8" name="Image 0" descr="preencoded.png">    </p:cNvPr>
          <p:cNvPicPr>
            <a:picLocks noChangeAspect="1"/>
          </p:cNvPicPr>
          <p:nvPr/>
        </p:nvPicPr>
        <p:blipFill>
          <a:blip r:embed="rId1"/>
          <a:srcRect l="0" r="0" t="0" b="0"/>
          <a:stretch/>
        </p:blipFill>
        <p:spPr>
          <a:xfrm>
            <a:off x="7724775" y="438150"/>
            <a:ext cx="1419225" cy="8001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0"/>
            <a:ext cx="8286750" cy="5143500"/>
          </a:xfrm>
          <a:prstGeom prst="rect">
            <a:avLst/>
          </a:prstGeom>
          <a:noFill/>
          <a:ln/>
        </p:spPr>
      </p:sp>
      <p:sp>
        <p:nvSpPr>
          <p:cNvPr id="4" name="Text 2"/>
          <p:cNvSpPr/>
          <p:nvPr/>
        </p:nvSpPr>
        <p:spPr>
          <a:xfrm>
            <a:off x="476250" y="476250"/>
            <a:ext cx="7334250" cy="490538"/>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Mind Map — Divergence</a:t>
            </a:r>
            <a:endParaRPr lang="en-US" sz="3064" dirty="0"/>
          </a:p>
        </p:txBody>
      </p:sp>
      <p:sp>
        <p:nvSpPr>
          <p:cNvPr id="5" name="Shape 3"/>
          <p:cNvSpPr/>
          <p:nvPr/>
        </p:nvSpPr>
        <p:spPr>
          <a:xfrm>
            <a:off x="8286750" y="0"/>
            <a:ext cx="857250" cy="5143500"/>
          </a:xfrm>
          <a:prstGeom prst="rect">
            <a:avLst/>
          </a:prstGeom>
          <a:solidFill>
            <a:srgbClr val="F5F5F7"/>
          </a:solidFill>
          <a:ln/>
        </p:spPr>
      </p:sp>
      <p:sp>
        <p:nvSpPr>
          <p:cNvPr id="6" name="Text 4"/>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7" name="Text 5"/>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11</a:t>
            </a:r>
            <a:endParaRPr lang="en-US" sz="1283" dirty="0"/>
          </a:p>
        </p:txBody>
      </p:sp>
      <p:pic>
        <p:nvPicPr>
          <p:cNvPr id="8" name="Image 0" descr="preencoded.png">    </p:cNvPr>
          <p:cNvPicPr>
            <a:picLocks noChangeAspect="1"/>
          </p:cNvPicPr>
          <p:nvPr/>
        </p:nvPicPr>
        <p:blipFill>
          <a:blip r:embed="rId1"/>
          <a:srcRect l="0" r="0" t="0" b="0"/>
          <a:stretch/>
        </p:blipFill>
        <p:spPr>
          <a:xfrm>
            <a:off x="7724775" y="438150"/>
            <a:ext cx="1419225" cy="800100"/>
          </a:xfrm>
          <a:prstGeom prst="rect">
            <a:avLst/>
          </a:prstGeom>
        </p:spPr>
      </p:pic>
      <p:pic>
        <p:nvPicPr>
          <p:cNvPr id="9" name="Image 1" descr="preencoded.png">    </p:cNvPr>
          <p:cNvPicPr>
            <a:picLocks noChangeAspect="1"/>
          </p:cNvPicPr>
          <p:nvPr/>
        </p:nvPicPr>
        <p:blipFill>
          <a:blip r:embed="rId2"/>
          <a:srcRect l="0" r="0" t="0" b="5778"/>
          <a:stretch/>
        </p:blipFill>
        <p:spPr>
          <a:xfrm>
            <a:off x="1166813" y="328613"/>
            <a:ext cx="6805613" cy="48148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0"/>
            <a:ext cx="8286750" cy="5143500"/>
          </a:xfrm>
          <a:prstGeom prst="rect">
            <a:avLst/>
          </a:prstGeom>
          <a:noFill/>
          <a:ln/>
        </p:spPr>
      </p:sp>
      <p:sp>
        <p:nvSpPr>
          <p:cNvPr id="4" name="Text 2"/>
          <p:cNvSpPr/>
          <p:nvPr/>
        </p:nvSpPr>
        <p:spPr>
          <a:xfrm>
            <a:off x="476250" y="476250"/>
            <a:ext cx="7334250" cy="490538"/>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Categorization — Convergence</a:t>
            </a:r>
            <a:endParaRPr lang="en-US" sz="3064" dirty="0"/>
          </a:p>
        </p:txBody>
      </p:sp>
      <p:sp>
        <p:nvSpPr>
          <p:cNvPr id="5" name="Shape 3"/>
          <p:cNvSpPr/>
          <p:nvPr/>
        </p:nvSpPr>
        <p:spPr>
          <a:xfrm>
            <a:off x="8286750" y="0"/>
            <a:ext cx="857250" cy="5143500"/>
          </a:xfrm>
          <a:prstGeom prst="rect">
            <a:avLst/>
          </a:prstGeom>
          <a:solidFill>
            <a:srgbClr val="F5F5F7"/>
          </a:solidFill>
          <a:ln/>
        </p:spPr>
      </p:sp>
      <p:sp>
        <p:nvSpPr>
          <p:cNvPr id="6" name="Text 4"/>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7" name="Text 5"/>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12</a:t>
            </a:r>
            <a:endParaRPr lang="en-US" sz="1283" dirty="0"/>
          </a:p>
        </p:txBody>
      </p:sp>
      <p:pic>
        <p:nvPicPr>
          <p:cNvPr id="8" name="Image 0" descr="preencoded.png">    </p:cNvPr>
          <p:cNvPicPr>
            <a:picLocks noChangeAspect="1"/>
          </p:cNvPicPr>
          <p:nvPr/>
        </p:nvPicPr>
        <p:blipFill>
          <a:blip r:embed="rId1"/>
          <a:srcRect l="0" r="0" t="0" b="0"/>
          <a:stretch/>
        </p:blipFill>
        <p:spPr>
          <a:xfrm>
            <a:off x="476250" y="1128713"/>
            <a:ext cx="7167563" cy="3767138"/>
          </a:xfrm>
          <a:prstGeom prst="rect">
            <a:avLst/>
          </a:prstGeom>
        </p:spPr>
      </p:pic>
      <p:pic>
        <p:nvPicPr>
          <p:cNvPr id="9" name="Image 1" descr="preencoded.png">    </p:cNvPr>
          <p:cNvPicPr>
            <a:picLocks noChangeAspect="1"/>
          </p:cNvPicPr>
          <p:nvPr/>
        </p:nvPicPr>
        <p:blipFill>
          <a:blip r:embed="rId2"/>
          <a:srcRect l="0" r="0" t="0" b="0"/>
          <a:stretch/>
        </p:blipFill>
        <p:spPr>
          <a:xfrm>
            <a:off x="7724775" y="438150"/>
            <a:ext cx="1419225" cy="8001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0"/>
            <a:ext cx="8286750" cy="5143500"/>
          </a:xfrm>
          <a:prstGeom prst="rect">
            <a:avLst/>
          </a:prstGeom>
          <a:noFill/>
          <a:ln/>
        </p:spPr>
      </p:sp>
      <p:sp>
        <p:nvSpPr>
          <p:cNvPr id="4" name="Text 2"/>
          <p:cNvSpPr/>
          <p:nvPr/>
        </p:nvSpPr>
        <p:spPr>
          <a:xfrm>
            <a:off x="476250" y="3933825"/>
            <a:ext cx="7334250" cy="733425"/>
          </a:xfrm>
          <a:prstGeom prst="rect">
            <a:avLst/>
          </a:prstGeom>
          <a:noFill/>
          <a:ln/>
        </p:spPr>
        <p:txBody>
          <a:bodyPr wrap="square" lIns="0" tIns="0" rIns="0" bIns="0" rtlCol="0" anchor="t"/>
          <a:lstStyle/>
          <a:p>
            <a:pPr algn="l" indent="0" marL="0">
              <a:lnSpc>
                <a:spcPts val="5472"/>
              </a:lnSpc>
              <a:buNone/>
            </a:pPr>
            <a:r>
              <a:rPr lang="en-US" sz="4560" u="sng" spc="-91" kern="0" dirty="0">
                <a:solidFill>
                  <a:srgbClr val="000000">
                    <a:alpha val="99000"/>
                  </a:srgbClr>
                </a:solidFill>
                <a:latin typeface="SF Pro" pitchFamily="34" charset="0"/>
                <a:ea typeface="SF Pro" pitchFamily="34" charset="-122"/>
                <a:cs typeface="SF Pro" pitchFamily="34" charset="-120"/>
              </a:rPr>
              <a:t>Value Proposition</a:t>
            </a:r>
            <a:endParaRPr lang="en-US" sz="4560" dirty="0"/>
          </a:p>
        </p:txBody>
      </p:sp>
      <p:sp>
        <p:nvSpPr>
          <p:cNvPr id="5" name="Shape 3"/>
          <p:cNvSpPr/>
          <p:nvPr/>
        </p:nvSpPr>
        <p:spPr>
          <a:xfrm>
            <a:off x="8286750" y="0"/>
            <a:ext cx="857250" cy="5143500"/>
          </a:xfrm>
          <a:prstGeom prst="rect">
            <a:avLst/>
          </a:prstGeom>
          <a:solidFill>
            <a:srgbClr val="F5F5F7"/>
          </a:solidFill>
          <a:ln/>
        </p:spPr>
      </p:sp>
      <p:sp>
        <p:nvSpPr>
          <p:cNvPr id="6" name="Text 4"/>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7" name="Text 5"/>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13</a:t>
            </a:r>
            <a:endParaRPr lang="en-US" sz="1283" dirty="0"/>
          </a:p>
        </p:txBody>
      </p:sp>
      <p:pic>
        <p:nvPicPr>
          <p:cNvPr id="8" name="Image 0" descr="preencoded.png">    </p:cNvPr>
          <p:cNvPicPr>
            <a:picLocks noChangeAspect="1"/>
          </p:cNvPicPr>
          <p:nvPr/>
        </p:nvPicPr>
        <p:blipFill>
          <a:blip r:embed="rId1"/>
          <a:srcRect l="0" r="0" t="0" b="0"/>
          <a:stretch/>
        </p:blipFill>
        <p:spPr>
          <a:xfrm>
            <a:off x="7724775" y="438150"/>
            <a:ext cx="1419225" cy="8001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4762" y="0"/>
            <a:ext cx="9148763" cy="5143500"/>
          </a:xfrm>
          <a:prstGeom prst="rect">
            <a:avLst/>
          </a:prstGeom>
          <a:noFill/>
          <a:ln/>
        </p:spPr>
      </p:sp>
      <p:sp>
        <p:nvSpPr>
          <p:cNvPr id="3" name="Shape 1"/>
          <p:cNvSpPr/>
          <p:nvPr/>
        </p:nvSpPr>
        <p:spPr>
          <a:xfrm>
            <a:off x="-4762" y="21431"/>
            <a:ext cx="8291513" cy="5100638"/>
          </a:xfrm>
          <a:prstGeom prst="rect">
            <a:avLst/>
          </a:prstGeom>
          <a:noFill/>
          <a:ln/>
        </p:spPr>
      </p:sp>
      <p:sp>
        <p:nvSpPr>
          <p:cNvPr id="4" name="Text 2"/>
          <p:cNvSpPr/>
          <p:nvPr/>
        </p:nvSpPr>
        <p:spPr>
          <a:xfrm>
            <a:off x="471488" y="497681"/>
            <a:ext cx="6643688" cy="490538"/>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Value Proposition</a:t>
            </a:r>
            <a:endParaRPr lang="en-US" sz="3064" dirty="0"/>
          </a:p>
        </p:txBody>
      </p:sp>
      <p:sp>
        <p:nvSpPr>
          <p:cNvPr id="5" name="Text 3"/>
          <p:cNvSpPr/>
          <p:nvPr/>
        </p:nvSpPr>
        <p:spPr>
          <a:xfrm>
            <a:off x="471488" y="1531144"/>
            <a:ext cx="4257675" cy="2357438"/>
          </a:xfrm>
          <a:prstGeom prst="rect">
            <a:avLst/>
          </a:prstGeom>
          <a:noFill/>
          <a:ln/>
        </p:spPr>
        <p:txBody>
          <a:bodyPr wrap="square" lIns="0" tIns="0" rIns="0" bIns="0" rtlCol="0" anchor="ctr"/>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For Apple Health users who want a </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clearer</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 more </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controllable view</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 of their </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long-term wellness data</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 BioSync: Health Data Log is an </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interactive calendar-style interface</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 that organizes each tracked metric into an editable, time-based table where users can view </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monthly summaries</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 </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daily averages</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 and even </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hour-by-hour data</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 Unlike FitBit or MyFitnessPal, the Health Data Log lets users fully control their </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data ranges</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 and </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visualization</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 empowering them to navigate effortlessly between past and present trends, customize what’s shown, and gain a more </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holistic understanding</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 of their </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health journey</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a:t>
            </a:r>
            <a:endParaRPr lang="en-US" sz="1140" dirty="0"/>
          </a:p>
        </p:txBody>
      </p:sp>
      <p:pic>
        <p:nvPicPr>
          <p:cNvPr id="6" name="Image 0" descr="preencoded.png">    </p:cNvPr>
          <p:cNvPicPr>
            <a:picLocks noChangeAspect="1"/>
          </p:cNvPicPr>
          <p:nvPr/>
        </p:nvPicPr>
        <p:blipFill>
          <a:blip r:embed="rId1"/>
          <a:srcRect l="0" r="0" t="0" b="0"/>
          <a:stretch/>
        </p:blipFill>
        <p:spPr>
          <a:xfrm>
            <a:off x="471488" y="4431506"/>
            <a:ext cx="6643688" cy="214313"/>
          </a:xfrm>
          <a:prstGeom prst="rect">
            <a:avLst/>
          </a:prstGeom>
        </p:spPr>
      </p:pic>
      <p:sp>
        <p:nvSpPr>
          <p:cNvPr id="7" name="Shape 4"/>
          <p:cNvSpPr/>
          <p:nvPr/>
        </p:nvSpPr>
        <p:spPr>
          <a:xfrm>
            <a:off x="8286750" y="0"/>
            <a:ext cx="857250" cy="5143500"/>
          </a:xfrm>
          <a:prstGeom prst="rect">
            <a:avLst/>
          </a:prstGeom>
          <a:solidFill>
            <a:srgbClr val="F5F5F7"/>
          </a:solidFill>
          <a:ln/>
        </p:spPr>
      </p:sp>
      <p:sp>
        <p:nvSpPr>
          <p:cNvPr id="8" name="Text 5"/>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9" name="Text 6"/>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14</a:t>
            </a:r>
            <a:endParaRPr lang="en-US" sz="1283" dirty="0"/>
          </a:p>
        </p:txBody>
      </p:sp>
      <p:sp>
        <p:nvSpPr>
          <p:cNvPr id="10" name="Text 7"/>
          <p:cNvSpPr/>
          <p:nvPr/>
        </p:nvSpPr>
        <p:spPr>
          <a:xfrm>
            <a:off x="5176838" y="500063"/>
            <a:ext cx="2543175" cy="450056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“I want to do the least amount of manual work possible”</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Mia Loran</a:t>
            </a:r>
            <a:endParaRPr lang="en-US" sz="1140" dirty="0"/>
          </a:p>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“I think personally, the spreadsheets might be a little overwhelming”</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Saijel Burkett</a:t>
            </a:r>
            <a:endParaRPr lang="en-US" sz="1140" dirty="0"/>
          </a:p>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“I don’t want to access any other app, like you can just see [past data] on the app”</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Eric Tsai</a:t>
            </a:r>
            <a:endParaRPr lang="en-US" sz="1140" dirty="0"/>
          </a:p>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 ”I think it would help me be more aware instead of tracking willy nilly like whatever”</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Saijel Burkett</a:t>
            </a:r>
            <a:endParaRPr lang="en-US" sz="1140" dirty="0"/>
          </a:p>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“Right now, I try to look at my previous data but it is not easily accessible”</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Mia Loran</a:t>
            </a:r>
            <a:endParaRPr lang="en-US" sz="1140" dirty="0"/>
          </a:p>
        </p:txBody>
      </p:sp>
      <p:pic>
        <p:nvPicPr>
          <p:cNvPr id="11" name="Image 1" descr="preencoded.png">    </p:cNvPr>
          <p:cNvPicPr>
            <a:picLocks noChangeAspect="1"/>
          </p:cNvPicPr>
          <p:nvPr/>
        </p:nvPicPr>
        <p:blipFill>
          <a:blip r:embed="rId2"/>
          <a:srcRect l="0" r="0" t="0" b="0"/>
          <a:stretch/>
        </p:blipFill>
        <p:spPr>
          <a:xfrm>
            <a:off x="7724775" y="438150"/>
            <a:ext cx="1419225" cy="8001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0"/>
            <a:ext cx="8286750" cy="5143500"/>
          </a:xfrm>
          <a:prstGeom prst="rect">
            <a:avLst/>
          </a:prstGeom>
          <a:noFill/>
          <a:ln/>
        </p:spPr>
      </p:sp>
      <p:sp>
        <p:nvSpPr>
          <p:cNvPr id="4" name="Text 2"/>
          <p:cNvSpPr/>
          <p:nvPr/>
        </p:nvSpPr>
        <p:spPr>
          <a:xfrm>
            <a:off x="476250" y="3933825"/>
            <a:ext cx="7334250" cy="733425"/>
          </a:xfrm>
          <a:prstGeom prst="rect">
            <a:avLst/>
          </a:prstGeom>
          <a:noFill/>
          <a:ln/>
        </p:spPr>
        <p:txBody>
          <a:bodyPr wrap="square" lIns="0" tIns="0" rIns="0" bIns="0" rtlCol="0" anchor="t"/>
          <a:lstStyle/>
          <a:p>
            <a:pPr algn="l" indent="0" marL="0">
              <a:lnSpc>
                <a:spcPts val="5472"/>
              </a:lnSpc>
              <a:buNone/>
            </a:pPr>
            <a:r>
              <a:rPr lang="en-US" sz="4560" u="sng" spc="-91" kern="0" dirty="0">
                <a:solidFill>
                  <a:srgbClr val="000000">
                    <a:alpha val="99000"/>
                  </a:srgbClr>
                </a:solidFill>
                <a:latin typeface="SF Pro" pitchFamily="34" charset="0"/>
                <a:ea typeface="SF Pro" pitchFamily="34" charset="-122"/>
                <a:cs typeface="SF Pro" pitchFamily="34" charset="-120"/>
              </a:rPr>
              <a:t>Feature Idea</a:t>
            </a:r>
            <a:endParaRPr lang="en-US" sz="4560" dirty="0"/>
          </a:p>
        </p:txBody>
      </p:sp>
      <p:sp>
        <p:nvSpPr>
          <p:cNvPr id="5" name="Shape 3"/>
          <p:cNvSpPr/>
          <p:nvPr/>
        </p:nvSpPr>
        <p:spPr>
          <a:xfrm>
            <a:off x="8286750" y="0"/>
            <a:ext cx="857250" cy="5143500"/>
          </a:xfrm>
          <a:prstGeom prst="rect">
            <a:avLst/>
          </a:prstGeom>
          <a:solidFill>
            <a:srgbClr val="F5F5F7"/>
          </a:solidFill>
          <a:ln/>
        </p:spPr>
      </p:sp>
      <p:sp>
        <p:nvSpPr>
          <p:cNvPr id="6" name="Text 4"/>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7" name="Text 5"/>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15</a:t>
            </a:r>
            <a:endParaRPr lang="en-US" sz="1283" dirty="0"/>
          </a:p>
        </p:txBody>
      </p:sp>
      <p:pic>
        <p:nvPicPr>
          <p:cNvPr id="8" name="Image 0" descr="preencoded.png">    </p:cNvPr>
          <p:cNvPicPr>
            <a:picLocks noChangeAspect="1"/>
          </p:cNvPicPr>
          <p:nvPr/>
        </p:nvPicPr>
        <p:blipFill>
          <a:blip r:embed="rId1"/>
          <a:srcRect l="0" r="0" t="0" b="0"/>
          <a:stretch/>
        </p:blipFill>
        <p:spPr>
          <a:xfrm>
            <a:off x="7724775" y="438150"/>
            <a:ext cx="1419225" cy="8001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4762" y="0"/>
            <a:ext cx="9148763" cy="5143500"/>
          </a:xfrm>
          <a:prstGeom prst="rect">
            <a:avLst/>
          </a:prstGeom>
          <a:noFill/>
          <a:ln/>
        </p:spPr>
      </p:sp>
      <p:sp>
        <p:nvSpPr>
          <p:cNvPr id="3" name="Shape 1"/>
          <p:cNvSpPr/>
          <p:nvPr/>
        </p:nvSpPr>
        <p:spPr>
          <a:xfrm>
            <a:off x="-4762" y="0"/>
            <a:ext cx="8291513" cy="5143500"/>
          </a:xfrm>
          <a:prstGeom prst="rect">
            <a:avLst/>
          </a:prstGeom>
          <a:noFill/>
          <a:ln/>
        </p:spPr>
      </p:sp>
      <p:sp>
        <p:nvSpPr>
          <p:cNvPr id="4" name="Text 2"/>
          <p:cNvSpPr/>
          <p:nvPr/>
        </p:nvSpPr>
        <p:spPr>
          <a:xfrm>
            <a:off x="471488" y="476250"/>
            <a:ext cx="6643688" cy="490538"/>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BioSync</a:t>
            </a:r>
            <a:endParaRPr lang="en-US" sz="3064" dirty="0"/>
          </a:p>
        </p:txBody>
      </p:sp>
      <p:sp>
        <p:nvSpPr>
          <p:cNvPr id="5" name="Text 3"/>
          <p:cNvSpPr/>
          <p:nvPr/>
        </p:nvSpPr>
        <p:spPr>
          <a:xfrm>
            <a:off x="471488" y="1509713"/>
            <a:ext cx="2833688" cy="1604963"/>
          </a:xfrm>
          <a:prstGeom prst="rect">
            <a:avLst/>
          </a:prstGeom>
          <a:noFill/>
          <a:ln/>
        </p:spPr>
        <p:txBody>
          <a:bodyPr wrap="square" lIns="0" tIns="0" rIns="0" bIns="0" rtlCol="0" anchor="b"/>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Health BioSync is a visually intuitive calendar interface for Apple Health, allowing users to explore lifetime historical health data with hourly detail, visualize custom data ranges, and quickly identify wellness trends—making long-term health review as seamless as browsing events in Apple Calendar.</a:t>
            </a:r>
            <a:endParaRPr lang="en-US" sz="1140" dirty="0"/>
          </a:p>
        </p:txBody>
      </p:sp>
      <p:pic>
        <p:nvPicPr>
          <p:cNvPr id="6" name="Image 0" descr="preencoded.png">    </p:cNvPr>
          <p:cNvPicPr>
            <a:picLocks noChangeAspect="1"/>
          </p:cNvPicPr>
          <p:nvPr/>
        </p:nvPicPr>
        <p:blipFill>
          <a:blip r:embed="rId1"/>
          <a:srcRect l="0" r="0" t="0" b="0"/>
          <a:stretch/>
        </p:blipFill>
        <p:spPr>
          <a:xfrm>
            <a:off x="471488" y="3657600"/>
            <a:ext cx="6643688" cy="214313"/>
          </a:xfrm>
          <a:prstGeom prst="rect">
            <a:avLst/>
          </a:prstGeom>
        </p:spPr>
      </p:pic>
      <p:sp>
        <p:nvSpPr>
          <p:cNvPr id="7" name="Shape 4"/>
          <p:cNvSpPr/>
          <p:nvPr/>
        </p:nvSpPr>
        <p:spPr>
          <a:xfrm>
            <a:off x="8286750" y="0"/>
            <a:ext cx="857250" cy="5143500"/>
          </a:xfrm>
          <a:prstGeom prst="rect">
            <a:avLst/>
          </a:prstGeom>
          <a:solidFill>
            <a:srgbClr val="F5F5F7"/>
          </a:solidFill>
          <a:ln/>
        </p:spPr>
      </p:sp>
      <p:sp>
        <p:nvSpPr>
          <p:cNvPr id="8" name="Text 5"/>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a:t>
            </a:r>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 — PMC</a:t>
            </a:r>
            <a:endParaRPr lang="en-US" sz="1283" dirty="0"/>
          </a:p>
        </p:txBody>
      </p:sp>
      <p:sp>
        <p:nvSpPr>
          <p:cNvPr id="9" name="Text 6"/>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16</a:t>
            </a:r>
            <a:endParaRPr lang="en-US" sz="1283" dirty="0"/>
          </a:p>
        </p:txBody>
      </p:sp>
      <p:pic>
        <p:nvPicPr>
          <p:cNvPr id="10" name="Image 1" descr="preencoded.png">    </p:cNvPr>
          <p:cNvPicPr>
            <a:picLocks noChangeAspect="1"/>
          </p:cNvPicPr>
          <p:nvPr/>
        </p:nvPicPr>
        <p:blipFill>
          <a:blip r:embed="rId2"/>
          <a:srcRect l="0" r="0" t="0" b="0"/>
          <a:stretch/>
        </p:blipFill>
        <p:spPr>
          <a:xfrm>
            <a:off x="5953125" y="571500"/>
            <a:ext cx="1936607" cy="4191000"/>
          </a:xfrm>
          <a:prstGeom prst="rect">
            <a:avLst/>
          </a:prstGeom>
        </p:spPr>
      </p:pic>
      <p:pic>
        <p:nvPicPr>
          <p:cNvPr id="11" name="Image 2" descr="preencoded.png">    </p:cNvPr>
          <p:cNvPicPr>
            <a:picLocks noChangeAspect="1"/>
          </p:cNvPicPr>
          <p:nvPr/>
        </p:nvPicPr>
        <p:blipFill>
          <a:blip r:embed="rId3"/>
          <a:srcRect l="0" r="0" t="0" b="0"/>
          <a:stretch/>
        </p:blipFill>
        <p:spPr>
          <a:xfrm>
            <a:off x="3609975" y="571500"/>
            <a:ext cx="1936607" cy="4191000"/>
          </a:xfrm>
          <a:prstGeom prst="rect">
            <a:avLst/>
          </a:prstGeom>
        </p:spPr>
      </p:pic>
      <p:pic>
        <p:nvPicPr>
          <p:cNvPr id="12" name="Image 3" descr="preencoded.png">    </p:cNvPr>
          <p:cNvPicPr>
            <a:picLocks noChangeAspect="1"/>
          </p:cNvPicPr>
          <p:nvPr/>
        </p:nvPicPr>
        <p:blipFill>
          <a:blip r:embed="rId4"/>
          <a:srcRect l="0" r="0" t="0" b="0"/>
          <a:stretch/>
        </p:blipFill>
        <p:spPr>
          <a:xfrm>
            <a:off x="4200525" y="2195513"/>
            <a:ext cx="300038" cy="319088"/>
          </a:xfrm>
          <a:prstGeom prst="rect">
            <a:avLst/>
          </a:prstGeom>
        </p:spPr>
      </p:pic>
      <p:pic>
        <p:nvPicPr>
          <p:cNvPr id="13" name="Image 4" descr="preencoded.png">    </p:cNvPr>
          <p:cNvPicPr>
            <a:picLocks noChangeAspect="1"/>
          </p:cNvPicPr>
          <p:nvPr/>
        </p:nvPicPr>
        <p:blipFill>
          <a:blip r:embed="rId5"/>
          <a:srcRect l="0" r="0" t="0" b="0"/>
          <a:stretch/>
        </p:blipFill>
        <p:spPr>
          <a:xfrm>
            <a:off x="6262688" y="3362325"/>
            <a:ext cx="657225" cy="195263"/>
          </a:xfrm>
          <a:prstGeom prst="rect">
            <a:avLst/>
          </a:prstGeom>
        </p:spPr>
      </p:pic>
      <p:sp>
        <p:nvSpPr>
          <p:cNvPr id="14" name="Text 7"/>
          <p:cNvSpPr/>
          <p:nvPr/>
        </p:nvSpPr>
        <p:spPr>
          <a:xfrm>
            <a:off x="471488" y="3338513"/>
            <a:ext cx="2390775" cy="857250"/>
          </a:xfrm>
          <a:prstGeom prst="rect">
            <a:avLst/>
          </a:prstGeom>
          <a:noFill/>
          <a:ln/>
        </p:spPr>
        <p:txBody>
          <a:bodyPr wrap="square" lIns="0" tIns="0" rIns="0" bIns="0" rtlCol="0" anchor="t"/>
          <a:lstStyle/>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Lifetime Health History</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Calendar view/hourly breakdown</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Custom dashboards</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Custom ranges</a:t>
            </a:r>
            <a:endParaRPr lang="en-US" sz="1140" dirty="0"/>
          </a:p>
        </p:txBody>
      </p:sp>
      <p:pic>
        <p:nvPicPr>
          <p:cNvPr id="15" name="Image 5" descr="preencoded.png">    </p:cNvPr>
          <p:cNvPicPr>
            <a:picLocks noChangeAspect="1"/>
          </p:cNvPicPr>
          <p:nvPr/>
        </p:nvPicPr>
        <p:blipFill>
          <a:blip r:embed="rId6"/>
          <a:srcRect l="0" r="0" t="0" b="0"/>
          <a:stretch/>
        </p:blipFill>
        <p:spPr>
          <a:xfrm>
            <a:off x="7724775" y="438150"/>
            <a:ext cx="1419225" cy="8001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0"/>
            <a:ext cx="8286750" cy="5143500"/>
          </a:xfrm>
          <a:prstGeom prst="rect">
            <a:avLst/>
          </a:prstGeom>
          <a:noFill/>
          <a:ln/>
        </p:spPr>
      </p:sp>
      <p:sp>
        <p:nvSpPr>
          <p:cNvPr id="4" name="Text 2"/>
          <p:cNvSpPr/>
          <p:nvPr/>
        </p:nvSpPr>
        <p:spPr>
          <a:xfrm>
            <a:off x="476250" y="383381"/>
            <a:ext cx="7334250" cy="490538"/>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MVP Feature Prioritization</a:t>
            </a:r>
            <a:endParaRPr lang="en-US" sz="3064" dirty="0"/>
          </a:p>
        </p:txBody>
      </p:sp>
      <p:sp>
        <p:nvSpPr>
          <p:cNvPr id="5" name="Shape 3"/>
          <p:cNvSpPr/>
          <p:nvPr/>
        </p:nvSpPr>
        <p:spPr>
          <a:xfrm>
            <a:off x="8286750" y="0"/>
            <a:ext cx="857250" cy="5143500"/>
          </a:xfrm>
          <a:prstGeom prst="rect">
            <a:avLst/>
          </a:prstGeom>
          <a:solidFill>
            <a:srgbClr val="F5F5F7"/>
          </a:solidFill>
          <a:ln/>
        </p:spPr>
      </p:sp>
      <p:sp>
        <p:nvSpPr>
          <p:cNvPr id="6" name="Text 4"/>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7" name="Text 5"/>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17</a:t>
            </a:r>
            <a:endParaRPr lang="en-US" sz="1283" dirty="0"/>
          </a:p>
        </p:txBody>
      </p:sp>
      <p:sp>
        <p:nvSpPr>
          <p:cNvPr id="8" name="Text 6"/>
          <p:cNvSpPr/>
          <p:nvPr/>
        </p:nvSpPr>
        <p:spPr>
          <a:xfrm>
            <a:off x="476250" y="876300"/>
            <a:ext cx="5219700" cy="214313"/>
          </a:xfrm>
          <a:prstGeom prst="rect">
            <a:avLst/>
          </a:prstGeom>
          <a:noFill/>
          <a:ln/>
        </p:spPr>
        <p:txBody>
          <a:bodyPr wrap="square" lIns="0" tIns="0" rIns="0" bIns="0" rtlCol="0" anchor="t"/>
          <a:lstStyle/>
          <a:p>
            <a:pPr algn="l" indent="0" marL="0">
              <a:lnSpc>
                <a:spcPts val="1596"/>
              </a:lnSpc>
              <a:buNone/>
            </a:pPr>
            <a:r>
              <a:rPr lang="en-US" sz="1140" dirty="0">
                <a:solidFill>
                  <a:srgbClr val="717378">
                    <a:alpha val="99000"/>
                  </a:srgbClr>
                </a:solidFill>
                <a:latin typeface="SF Compact" pitchFamily="34" charset="0"/>
                <a:ea typeface="SF Compact" pitchFamily="34" charset="-122"/>
                <a:cs typeface="SF Compact" pitchFamily="34" charset="-120"/>
              </a:rPr>
              <a:t>Are users taking control of their health through data visibility and accessibility?</a:t>
            </a:r>
            <a:endParaRPr lang="en-US" sz="1140" dirty="0"/>
          </a:p>
        </p:txBody>
      </p:sp>
      <p:pic>
        <p:nvPicPr>
          <p:cNvPr id="9" name="Image 0" descr="preencoded.png">    </p:cNvPr>
          <p:cNvPicPr>
            <a:picLocks noChangeAspect="1"/>
          </p:cNvPicPr>
          <p:nvPr/>
        </p:nvPicPr>
        <p:blipFill>
          <a:blip r:embed="rId1"/>
          <a:srcRect l="0" r="0" t="0" b="0"/>
          <a:stretch/>
        </p:blipFill>
        <p:spPr>
          <a:xfrm>
            <a:off x="738188" y="1090613"/>
            <a:ext cx="6810375" cy="3829050"/>
          </a:xfrm>
          <a:prstGeom prst="rect">
            <a:avLst/>
          </a:prstGeom>
        </p:spPr>
      </p:pic>
      <p:sp>
        <p:nvSpPr>
          <p:cNvPr id="10" name="Text 7"/>
          <p:cNvSpPr/>
          <p:nvPr/>
        </p:nvSpPr>
        <p:spPr>
          <a:xfrm>
            <a:off x="2209800" y="1343025"/>
            <a:ext cx="452438" cy="21431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Trends</a:t>
            </a:r>
            <a:endParaRPr lang="en-US" sz="1140" dirty="0"/>
          </a:p>
        </p:txBody>
      </p:sp>
      <p:sp>
        <p:nvSpPr>
          <p:cNvPr id="11" name="Text 8"/>
          <p:cNvSpPr/>
          <p:nvPr/>
        </p:nvSpPr>
        <p:spPr>
          <a:xfrm>
            <a:off x="2914650" y="1395413"/>
            <a:ext cx="538163" cy="21431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 Pinning</a:t>
            </a:r>
            <a:endParaRPr lang="en-US" sz="1140" dirty="0"/>
          </a:p>
        </p:txBody>
      </p:sp>
      <p:sp>
        <p:nvSpPr>
          <p:cNvPr id="12" name="Text 9"/>
          <p:cNvSpPr/>
          <p:nvPr/>
        </p:nvSpPr>
        <p:spPr>
          <a:xfrm>
            <a:off x="3524250" y="2047875"/>
            <a:ext cx="942975" cy="21431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Calendar View </a:t>
            </a:r>
            <a:endParaRPr lang="en-US" sz="1140" dirty="0"/>
          </a:p>
        </p:txBody>
      </p:sp>
      <p:sp>
        <p:nvSpPr>
          <p:cNvPr id="13" name="Text 10"/>
          <p:cNvSpPr/>
          <p:nvPr/>
        </p:nvSpPr>
        <p:spPr>
          <a:xfrm>
            <a:off x="3086100" y="2571750"/>
            <a:ext cx="438150" cy="21431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Hourly</a:t>
            </a:r>
            <a:endParaRPr lang="en-US" sz="1140" dirty="0"/>
          </a:p>
        </p:txBody>
      </p:sp>
      <p:sp>
        <p:nvSpPr>
          <p:cNvPr id="14" name="Text 11"/>
          <p:cNvSpPr/>
          <p:nvPr/>
        </p:nvSpPr>
        <p:spPr>
          <a:xfrm>
            <a:off x="2209800" y="2100263"/>
            <a:ext cx="500063" cy="21431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Ranges</a:t>
            </a:r>
            <a:endParaRPr lang="en-US" sz="1140" dirty="0"/>
          </a:p>
        </p:txBody>
      </p:sp>
      <p:sp>
        <p:nvSpPr>
          <p:cNvPr id="15" name="Text 12"/>
          <p:cNvSpPr/>
          <p:nvPr/>
        </p:nvSpPr>
        <p:spPr>
          <a:xfrm>
            <a:off x="4095750" y="1395413"/>
            <a:ext cx="952500" cy="21431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Health History</a:t>
            </a:r>
            <a:endParaRPr lang="en-US" sz="1140" dirty="0"/>
          </a:p>
        </p:txBody>
      </p:sp>
      <p:pic>
        <p:nvPicPr>
          <p:cNvPr id="16" name="Image 1" descr="preencoded.png">    </p:cNvPr>
          <p:cNvPicPr>
            <a:picLocks noChangeAspect="1"/>
          </p:cNvPicPr>
          <p:nvPr/>
        </p:nvPicPr>
        <p:blipFill>
          <a:blip r:embed="rId2"/>
          <a:srcRect l="0" r="0" t="0" b="0"/>
          <a:stretch/>
        </p:blipFill>
        <p:spPr>
          <a:xfrm>
            <a:off x="7724775" y="438150"/>
            <a:ext cx="1419225" cy="8001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0"/>
            <a:ext cx="8286750" cy="5143500"/>
          </a:xfrm>
          <a:prstGeom prst="rect">
            <a:avLst/>
          </a:prstGeom>
          <a:noFill/>
          <a:ln/>
        </p:spPr>
      </p:sp>
      <p:sp>
        <p:nvSpPr>
          <p:cNvPr id="4" name="Text 2"/>
          <p:cNvSpPr/>
          <p:nvPr/>
        </p:nvSpPr>
        <p:spPr>
          <a:xfrm>
            <a:off x="476250" y="476250"/>
            <a:ext cx="7334250" cy="490538"/>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MVP Feature Prioritization</a:t>
            </a:r>
            <a:endParaRPr lang="en-US" sz="3064" dirty="0"/>
          </a:p>
        </p:txBody>
      </p:sp>
      <p:sp>
        <p:nvSpPr>
          <p:cNvPr id="5" name="Shape 3"/>
          <p:cNvSpPr/>
          <p:nvPr/>
        </p:nvSpPr>
        <p:spPr>
          <a:xfrm>
            <a:off x="476250" y="2019300"/>
            <a:ext cx="7334250" cy="2852738"/>
          </a:xfrm>
          <a:prstGeom prst="rect">
            <a:avLst/>
          </a:prstGeom>
          <a:noFill/>
          <a:ln/>
        </p:spPr>
      </p:sp>
      <p:sp>
        <p:nvSpPr>
          <p:cNvPr id="6" name="Shape 4"/>
          <p:cNvSpPr/>
          <p:nvPr/>
        </p:nvSpPr>
        <p:spPr>
          <a:xfrm>
            <a:off x="476250" y="2019300"/>
            <a:ext cx="7334250" cy="1176338"/>
          </a:xfrm>
          <a:prstGeom prst="rect">
            <a:avLst/>
          </a:prstGeom>
          <a:noFill/>
          <a:ln/>
        </p:spPr>
      </p:sp>
      <p:sp>
        <p:nvSpPr>
          <p:cNvPr id="7" name="Shape 5"/>
          <p:cNvSpPr/>
          <p:nvPr/>
        </p:nvSpPr>
        <p:spPr>
          <a:xfrm>
            <a:off x="476250" y="2019300"/>
            <a:ext cx="3524250" cy="1176338"/>
          </a:xfrm>
          <a:prstGeom prst="rect">
            <a:avLst/>
          </a:prstGeom>
          <a:noFill/>
          <a:ln/>
        </p:spPr>
      </p:sp>
      <p:sp>
        <p:nvSpPr>
          <p:cNvPr id="8" name="Text 6"/>
          <p:cNvSpPr/>
          <p:nvPr/>
        </p:nvSpPr>
        <p:spPr>
          <a:xfrm>
            <a:off x="476250" y="2019300"/>
            <a:ext cx="3524250" cy="204788"/>
          </a:xfrm>
          <a:prstGeom prst="rect">
            <a:avLst/>
          </a:prstGeom>
          <a:noFill/>
          <a:ln/>
        </p:spPr>
        <p:txBody>
          <a:bodyPr wrap="square" lIns="0" tIns="0" rIns="0" bIns="0" rtlCol="0" anchor="t"/>
          <a:lstStyle/>
          <a:p>
            <a:pPr algn="l" indent="0" marL="0">
              <a:lnSpc>
                <a:spcPts val="1539"/>
              </a:lnSpc>
              <a:buNone/>
            </a:pPr>
            <a:r>
              <a:rPr lang="en-US" sz="1283" dirty="0">
                <a:solidFill>
                  <a:srgbClr val="000000">
                    <a:alpha val="99000"/>
                  </a:srgbClr>
                </a:solidFill>
                <a:latin typeface="SF Compact" pitchFamily="34" charset="0"/>
                <a:ea typeface="SF Compact" pitchFamily="34" charset="-122"/>
                <a:cs typeface="SF Compact" pitchFamily="34" charset="-120"/>
              </a:rPr>
              <a:t>Complete Health History</a:t>
            </a:r>
            <a:endParaRPr lang="en-US" sz="1283" dirty="0"/>
          </a:p>
        </p:txBody>
      </p:sp>
      <p:sp>
        <p:nvSpPr>
          <p:cNvPr id="9" name="Text 7"/>
          <p:cNvSpPr/>
          <p:nvPr/>
        </p:nvSpPr>
        <p:spPr>
          <a:xfrm>
            <a:off x="476250" y="2338388"/>
            <a:ext cx="3524250" cy="857250"/>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Provides users with access to their entire health data record from the day they started tracking, enabling long-term trend analysis.</a:t>
            </a:r>
            <a:endParaRPr lang="en-US" sz="1140" dirty="0"/>
          </a:p>
        </p:txBody>
      </p:sp>
      <p:sp>
        <p:nvSpPr>
          <p:cNvPr id="10" name="Shape 8"/>
          <p:cNvSpPr/>
          <p:nvPr/>
        </p:nvSpPr>
        <p:spPr>
          <a:xfrm>
            <a:off x="4286250" y="2019300"/>
            <a:ext cx="3524250" cy="962025"/>
          </a:xfrm>
          <a:prstGeom prst="rect">
            <a:avLst/>
          </a:prstGeom>
          <a:noFill/>
          <a:ln/>
        </p:spPr>
      </p:sp>
      <p:sp>
        <p:nvSpPr>
          <p:cNvPr id="11" name="Text 9"/>
          <p:cNvSpPr/>
          <p:nvPr/>
        </p:nvSpPr>
        <p:spPr>
          <a:xfrm>
            <a:off x="4286250" y="2019300"/>
            <a:ext cx="3524250" cy="204788"/>
          </a:xfrm>
          <a:prstGeom prst="rect">
            <a:avLst/>
          </a:prstGeom>
          <a:noFill/>
          <a:ln/>
        </p:spPr>
        <p:txBody>
          <a:bodyPr wrap="square" lIns="0" tIns="0" rIns="0" bIns="0" rtlCol="0" anchor="t"/>
          <a:lstStyle/>
          <a:p>
            <a:pPr algn="l" indent="0" marL="0">
              <a:lnSpc>
                <a:spcPts val="1539"/>
              </a:lnSpc>
              <a:buNone/>
            </a:pPr>
            <a:r>
              <a:rPr lang="en-US" sz="1283" dirty="0">
                <a:solidFill>
                  <a:srgbClr val="000000">
                    <a:alpha val="99000"/>
                  </a:srgbClr>
                </a:solidFill>
                <a:latin typeface="SF Compact" pitchFamily="34" charset="0"/>
                <a:ea typeface="SF Compact" pitchFamily="34" charset="-122"/>
                <a:cs typeface="SF Compact" pitchFamily="34" charset="-120"/>
              </a:rPr>
              <a:t>Calendar View</a:t>
            </a:r>
            <a:endParaRPr lang="en-US" sz="1283" dirty="0"/>
          </a:p>
        </p:txBody>
      </p:sp>
      <p:sp>
        <p:nvSpPr>
          <p:cNvPr id="12" name="Text 10"/>
          <p:cNvSpPr/>
          <p:nvPr/>
        </p:nvSpPr>
        <p:spPr>
          <a:xfrm>
            <a:off x="4286250" y="2338388"/>
            <a:ext cx="3524250" cy="642938"/>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Displays health metrics in an intuitive calendar format, making it easy for users to navigate by date and compare metrics over time.</a:t>
            </a:r>
            <a:endParaRPr lang="en-US" sz="1140" dirty="0"/>
          </a:p>
        </p:txBody>
      </p:sp>
      <p:sp>
        <p:nvSpPr>
          <p:cNvPr id="13" name="Shape 11"/>
          <p:cNvSpPr/>
          <p:nvPr/>
        </p:nvSpPr>
        <p:spPr>
          <a:xfrm>
            <a:off x="476250" y="3481388"/>
            <a:ext cx="7334250" cy="1390650"/>
          </a:xfrm>
          <a:prstGeom prst="rect">
            <a:avLst/>
          </a:prstGeom>
          <a:noFill/>
          <a:ln/>
        </p:spPr>
      </p:sp>
      <p:sp>
        <p:nvSpPr>
          <p:cNvPr id="14" name="Shape 12"/>
          <p:cNvSpPr/>
          <p:nvPr/>
        </p:nvSpPr>
        <p:spPr>
          <a:xfrm>
            <a:off x="476250" y="3481388"/>
            <a:ext cx="2254250" cy="1176338"/>
          </a:xfrm>
          <a:prstGeom prst="rect">
            <a:avLst/>
          </a:prstGeom>
          <a:noFill/>
          <a:ln/>
        </p:spPr>
      </p:sp>
      <p:sp>
        <p:nvSpPr>
          <p:cNvPr id="15" name="Text 13"/>
          <p:cNvSpPr/>
          <p:nvPr/>
        </p:nvSpPr>
        <p:spPr>
          <a:xfrm>
            <a:off x="476250" y="3481388"/>
            <a:ext cx="2254250" cy="204788"/>
          </a:xfrm>
          <a:prstGeom prst="rect">
            <a:avLst/>
          </a:prstGeom>
          <a:noFill/>
          <a:ln/>
        </p:spPr>
        <p:txBody>
          <a:bodyPr wrap="square" lIns="0" tIns="0" rIns="0" bIns="0" rtlCol="0" anchor="t"/>
          <a:lstStyle/>
          <a:p>
            <a:pPr algn="l" indent="0" marL="0">
              <a:lnSpc>
                <a:spcPts val="1539"/>
              </a:lnSpc>
              <a:buNone/>
            </a:pPr>
            <a:r>
              <a:rPr lang="en-US" sz="1283" dirty="0">
                <a:solidFill>
                  <a:srgbClr val="000000">
                    <a:alpha val="99000"/>
                  </a:srgbClr>
                </a:solidFill>
                <a:latin typeface="SF Compact" pitchFamily="34" charset="0"/>
                <a:ea typeface="SF Compact" pitchFamily="34" charset="-122"/>
                <a:cs typeface="SF Compact" pitchFamily="34" charset="-120"/>
              </a:rPr>
              <a:t>Hourly Breakdown</a:t>
            </a:r>
            <a:endParaRPr lang="en-US" sz="1283" dirty="0"/>
          </a:p>
        </p:txBody>
      </p:sp>
      <p:sp>
        <p:nvSpPr>
          <p:cNvPr id="16" name="Text 14"/>
          <p:cNvSpPr/>
          <p:nvPr/>
        </p:nvSpPr>
        <p:spPr>
          <a:xfrm>
            <a:off x="476250" y="3800475"/>
            <a:ext cx="2254250" cy="857250"/>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Offers granular hourly details for continuous health metrics, allowing users to identify specific daily patterns.</a:t>
            </a:r>
            <a:endParaRPr lang="en-US" sz="1140" dirty="0"/>
          </a:p>
        </p:txBody>
      </p:sp>
      <p:sp>
        <p:nvSpPr>
          <p:cNvPr id="17" name="Shape 15"/>
          <p:cNvSpPr/>
          <p:nvPr/>
        </p:nvSpPr>
        <p:spPr>
          <a:xfrm>
            <a:off x="3016244" y="3481388"/>
            <a:ext cx="2254250" cy="1176338"/>
          </a:xfrm>
          <a:prstGeom prst="rect">
            <a:avLst/>
          </a:prstGeom>
          <a:noFill/>
          <a:ln/>
        </p:spPr>
      </p:sp>
      <p:sp>
        <p:nvSpPr>
          <p:cNvPr id="18" name="Text 16"/>
          <p:cNvSpPr/>
          <p:nvPr/>
        </p:nvSpPr>
        <p:spPr>
          <a:xfrm>
            <a:off x="3016244" y="3481388"/>
            <a:ext cx="2254250" cy="204788"/>
          </a:xfrm>
          <a:prstGeom prst="rect">
            <a:avLst/>
          </a:prstGeom>
          <a:noFill/>
          <a:ln/>
        </p:spPr>
        <p:txBody>
          <a:bodyPr wrap="square" lIns="0" tIns="0" rIns="0" bIns="0" rtlCol="0" anchor="t"/>
          <a:lstStyle/>
          <a:p>
            <a:pPr algn="l" indent="0" marL="0">
              <a:lnSpc>
                <a:spcPts val="1539"/>
              </a:lnSpc>
              <a:buNone/>
            </a:pPr>
            <a:r>
              <a:rPr lang="en-US" sz="1283" dirty="0">
                <a:solidFill>
                  <a:srgbClr val="000000">
                    <a:alpha val="99000"/>
                  </a:srgbClr>
                </a:solidFill>
                <a:latin typeface="SF Compact" pitchFamily="34" charset="0"/>
                <a:ea typeface="SF Compact" pitchFamily="34" charset="-122"/>
                <a:cs typeface="SF Compact" pitchFamily="34" charset="-120"/>
              </a:rPr>
              <a:t>Custom Data Ranges</a:t>
            </a:r>
            <a:endParaRPr lang="en-US" sz="1283" dirty="0"/>
          </a:p>
        </p:txBody>
      </p:sp>
      <p:sp>
        <p:nvSpPr>
          <p:cNvPr id="19" name="Text 17"/>
          <p:cNvSpPr/>
          <p:nvPr/>
        </p:nvSpPr>
        <p:spPr>
          <a:xfrm>
            <a:off x="3016244" y="3800475"/>
            <a:ext cx="2254250" cy="857250"/>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Allows users to filter and view data for custom time periods, enabling focused analysis on relevant timeframes.</a:t>
            </a:r>
            <a:endParaRPr lang="en-US" sz="1140" dirty="0"/>
          </a:p>
        </p:txBody>
      </p:sp>
      <p:sp>
        <p:nvSpPr>
          <p:cNvPr id="20" name="Shape 18"/>
          <p:cNvSpPr/>
          <p:nvPr/>
        </p:nvSpPr>
        <p:spPr>
          <a:xfrm>
            <a:off x="5556256" y="3481388"/>
            <a:ext cx="2254250" cy="1390650"/>
          </a:xfrm>
          <a:prstGeom prst="rect">
            <a:avLst/>
          </a:prstGeom>
          <a:noFill/>
          <a:ln/>
        </p:spPr>
      </p:sp>
      <p:sp>
        <p:nvSpPr>
          <p:cNvPr id="21" name="Text 19"/>
          <p:cNvSpPr/>
          <p:nvPr/>
        </p:nvSpPr>
        <p:spPr>
          <a:xfrm>
            <a:off x="5556256" y="3481388"/>
            <a:ext cx="2254250" cy="204788"/>
          </a:xfrm>
          <a:prstGeom prst="rect">
            <a:avLst/>
          </a:prstGeom>
          <a:noFill/>
          <a:ln/>
        </p:spPr>
        <p:txBody>
          <a:bodyPr wrap="square" lIns="0" tIns="0" rIns="0" bIns="0" rtlCol="0" anchor="t"/>
          <a:lstStyle/>
          <a:p>
            <a:pPr algn="l" indent="0" marL="0">
              <a:lnSpc>
                <a:spcPts val="1539"/>
              </a:lnSpc>
              <a:buNone/>
            </a:pPr>
            <a:r>
              <a:rPr lang="en-US" sz="1283" dirty="0">
                <a:solidFill>
                  <a:srgbClr val="000000">
                    <a:alpha val="99000"/>
                  </a:srgbClr>
                </a:solidFill>
                <a:latin typeface="SF Compact" pitchFamily="34" charset="0"/>
                <a:ea typeface="SF Compact" pitchFamily="34" charset="-122"/>
                <a:cs typeface="SF Compact" pitchFamily="34" charset="-120"/>
              </a:rPr>
              <a:t>Trend Summaries</a:t>
            </a:r>
            <a:endParaRPr lang="en-US" sz="1283" dirty="0"/>
          </a:p>
        </p:txBody>
      </p:sp>
      <p:sp>
        <p:nvSpPr>
          <p:cNvPr id="22" name="Text 20"/>
          <p:cNvSpPr/>
          <p:nvPr/>
        </p:nvSpPr>
        <p:spPr>
          <a:xfrm>
            <a:off x="5556256" y="3800475"/>
            <a:ext cx="2254250" cy="107156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Automatically surfaces patterns and trends in user data, providing actionable insights without requiring advanced analysis skills.</a:t>
            </a:r>
            <a:endParaRPr lang="en-US" sz="1140" dirty="0"/>
          </a:p>
        </p:txBody>
      </p:sp>
      <p:sp>
        <p:nvSpPr>
          <p:cNvPr id="23" name="Shape 21"/>
          <p:cNvSpPr/>
          <p:nvPr/>
        </p:nvSpPr>
        <p:spPr>
          <a:xfrm>
            <a:off x="8286750" y="0"/>
            <a:ext cx="857250" cy="5143500"/>
          </a:xfrm>
          <a:prstGeom prst="rect">
            <a:avLst/>
          </a:prstGeom>
          <a:solidFill>
            <a:srgbClr val="F5F5F7"/>
          </a:solidFill>
          <a:ln/>
        </p:spPr>
      </p:sp>
      <p:sp>
        <p:nvSpPr>
          <p:cNvPr id="24" name="Text 22"/>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25" name="Text 23"/>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18</a:t>
            </a:r>
            <a:endParaRPr lang="en-US" sz="1283" dirty="0"/>
          </a:p>
        </p:txBody>
      </p:sp>
      <p:sp>
        <p:nvSpPr>
          <p:cNvPr id="26" name="Text 24"/>
          <p:cNvSpPr/>
          <p:nvPr/>
        </p:nvSpPr>
        <p:spPr>
          <a:xfrm>
            <a:off x="476250" y="1152525"/>
            <a:ext cx="5219700" cy="214313"/>
          </a:xfrm>
          <a:prstGeom prst="rect">
            <a:avLst/>
          </a:prstGeom>
          <a:noFill/>
          <a:ln/>
        </p:spPr>
        <p:txBody>
          <a:bodyPr wrap="square" lIns="0" tIns="0" rIns="0" bIns="0" rtlCol="0" anchor="t"/>
          <a:lstStyle/>
          <a:p>
            <a:pPr algn="l" indent="0" marL="0">
              <a:lnSpc>
                <a:spcPts val="1596"/>
              </a:lnSpc>
              <a:buNone/>
            </a:pPr>
            <a:r>
              <a:rPr lang="en-US" sz="1140" dirty="0">
                <a:solidFill>
                  <a:srgbClr val="717378">
                    <a:alpha val="99000"/>
                  </a:srgbClr>
                </a:solidFill>
                <a:latin typeface="SF Compact" pitchFamily="34" charset="0"/>
                <a:ea typeface="SF Compact" pitchFamily="34" charset="-122"/>
                <a:cs typeface="SF Compact" pitchFamily="34" charset="-120"/>
              </a:rPr>
              <a:t>Are users taking control of their health through data visibility and accessibility?</a:t>
            </a:r>
            <a:endParaRPr lang="en-US" sz="1140" dirty="0"/>
          </a:p>
        </p:txBody>
      </p:sp>
      <p:pic>
        <p:nvPicPr>
          <p:cNvPr id="27" name="Image 0" descr="preencoded.png">    </p:cNvPr>
          <p:cNvPicPr>
            <a:picLocks noChangeAspect="1"/>
          </p:cNvPicPr>
          <p:nvPr/>
        </p:nvPicPr>
        <p:blipFill>
          <a:blip r:embed="rId1"/>
          <a:srcRect l="0" r="0" t="0" b="0"/>
          <a:stretch/>
        </p:blipFill>
        <p:spPr>
          <a:xfrm>
            <a:off x="7724775" y="438150"/>
            <a:ext cx="1419225" cy="8001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364331"/>
            <a:ext cx="8286750" cy="4414838"/>
          </a:xfrm>
          <a:prstGeom prst="rect">
            <a:avLst/>
          </a:prstGeom>
          <a:noFill/>
          <a:ln/>
        </p:spPr>
      </p:sp>
      <p:sp>
        <p:nvSpPr>
          <p:cNvPr id="4" name="Text 2"/>
          <p:cNvSpPr/>
          <p:nvPr/>
        </p:nvSpPr>
        <p:spPr>
          <a:xfrm>
            <a:off x="476250" y="364331"/>
            <a:ext cx="7334250" cy="490538"/>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User Flow</a:t>
            </a:r>
            <a:endParaRPr lang="en-US" sz="3064" dirty="0"/>
          </a:p>
        </p:txBody>
      </p:sp>
      <p:sp>
        <p:nvSpPr>
          <p:cNvPr id="5" name="Shape 3"/>
          <p:cNvSpPr/>
          <p:nvPr/>
        </p:nvSpPr>
        <p:spPr>
          <a:xfrm>
            <a:off x="8286750" y="0"/>
            <a:ext cx="857250" cy="5143500"/>
          </a:xfrm>
          <a:prstGeom prst="rect">
            <a:avLst/>
          </a:prstGeom>
          <a:solidFill>
            <a:srgbClr val="F5F5F7"/>
          </a:solidFill>
          <a:ln/>
        </p:spPr>
      </p:sp>
      <p:sp>
        <p:nvSpPr>
          <p:cNvPr id="6" name="Text 4"/>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7" name="Text 5"/>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19</a:t>
            </a:r>
            <a:endParaRPr lang="en-US" sz="1283" dirty="0"/>
          </a:p>
        </p:txBody>
      </p:sp>
      <p:pic>
        <p:nvPicPr>
          <p:cNvPr id="8" name="Image 0" descr="preencoded.png">    </p:cNvPr>
          <p:cNvPicPr>
            <a:picLocks noChangeAspect="1"/>
          </p:cNvPicPr>
          <p:nvPr/>
        </p:nvPicPr>
        <p:blipFill>
          <a:blip r:embed="rId1"/>
          <a:srcRect l="0" r="0" t="0" b="0"/>
          <a:stretch/>
        </p:blipFill>
        <p:spPr>
          <a:xfrm>
            <a:off x="5810250" y="119063"/>
            <a:ext cx="2157413" cy="4976813"/>
          </a:xfrm>
          <a:prstGeom prst="rect">
            <a:avLst/>
          </a:prstGeom>
        </p:spPr>
      </p:pic>
      <p:pic>
        <p:nvPicPr>
          <p:cNvPr id="9" name="Image 1" descr="preencoded.png">    </p:cNvPr>
          <p:cNvPicPr>
            <a:picLocks noChangeAspect="1"/>
          </p:cNvPicPr>
          <p:nvPr/>
        </p:nvPicPr>
        <p:blipFill>
          <a:blip r:embed="rId2"/>
          <a:srcRect l="0" r="0" t="0" b="0"/>
          <a:stretch/>
        </p:blipFill>
        <p:spPr>
          <a:xfrm>
            <a:off x="266700" y="981075"/>
            <a:ext cx="2409825" cy="4048125"/>
          </a:xfrm>
          <a:prstGeom prst="rect">
            <a:avLst/>
          </a:prstGeom>
        </p:spPr>
      </p:pic>
      <p:pic>
        <p:nvPicPr>
          <p:cNvPr id="10" name="Image 2" descr="preencoded.png">    </p:cNvPr>
          <p:cNvPicPr>
            <a:picLocks noChangeAspect="1"/>
          </p:cNvPicPr>
          <p:nvPr/>
        </p:nvPicPr>
        <p:blipFill>
          <a:blip r:embed="rId3"/>
          <a:srcRect l="0" r="0" t="0" b="0"/>
          <a:stretch/>
        </p:blipFill>
        <p:spPr>
          <a:xfrm>
            <a:off x="2781300" y="119063"/>
            <a:ext cx="2924175" cy="4910138"/>
          </a:xfrm>
          <a:prstGeom prst="rect">
            <a:avLst/>
          </a:prstGeom>
        </p:spPr>
      </p:pic>
      <p:pic>
        <p:nvPicPr>
          <p:cNvPr id="11" name="Image 3" descr="preencoded.png">    </p:cNvPr>
          <p:cNvPicPr>
            <a:picLocks noChangeAspect="1"/>
          </p:cNvPicPr>
          <p:nvPr/>
        </p:nvPicPr>
        <p:blipFill>
          <a:blip r:embed="rId4"/>
          <a:srcRect l="0" r="0" t="0" b="0"/>
          <a:stretch/>
        </p:blipFill>
        <p:spPr>
          <a:xfrm>
            <a:off x="7724775" y="438150"/>
            <a:ext cx="1419225" cy="8001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114300"/>
            <a:ext cx="8286750" cy="4914900"/>
          </a:xfrm>
          <a:prstGeom prst="rect">
            <a:avLst/>
          </a:prstGeom>
          <a:noFill/>
          <a:ln/>
        </p:spPr>
      </p:sp>
      <p:sp>
        <p:nvSpPr>
          <p:cNvPr id="4" name="Text 2"/>
          <p:cNvSpPr/>
          <p:nvPr/>
        </p:nvSpPr>
        <p:spPr>
          <a:xfrm>
            <a:off x="476250" y="114300"/>
            <a:ext cx="7334250" cy="490538"/>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Prototype</a:t>
            </a:r>
            <a:endParaRPr lang="en-US" sz="3064" dirty="0"/>
          </a:p>
        </p:txBody>
      </p:sp>
      <p:sp>
        <p:nvSpPr>
          <p:cNvPr id="5" name="Text 3"/>
          <p:cNvSpPr/>
          <p:nvPr/>
        </p:nvSpPr>
        <p:spPr>
          <a:xfrm>
            <a:off x="476250" y="890588"/>
            <a:ext cx="2638425" cy="214313"/>
          </a:xfrm>
          <a:prstGeom prst="rect">
            <a:avLst/>
          </a:prstGeom>
          <a:noFill/>
          <a:ln/>
        </p:spPr>
        <p:txBody>
          <a:bodyPr wrap="square" lIns="0" tIns="0" rIns="0" bIns="0" rtlCol="0" anchor="ctr"/>
          <a:lstStyle/>
          <a:p>
            <a:pPr algn="l" indent="0" marL="0">
              <a:lnSpc>
                <a:spcPts val="1596"/>
              </a:lnSpc>
              <a:buNone/>
            </a:pPr>
            <a:r>
              <a:rPr lang="en-US" sz="1140" u="sng" dirty="0">
                <a:solidFill>
                  <a:srgbClr val="717378">
                    <a:alpha val="99000"/>
                  </a:srgbClr>
                </a:solidFill>
                <a:latin typeface="SF Compact" pitchFamily="34" charset="0"/>
                <a:ea typeface="SF Compact" pitchFamily="34" charset="-122"/>
                <a:cs typeface="SF Compact"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https://biosync-prototype.lovable.app</a:t>
            </a:r>
            <a:endParaRPr lang="en-US" sz="1140" dirty="0"/>
          </a:p>
        </p:txBody>
      </p:sp>
      <p:sp>
        <p:nvSpPr>
          <p:cNvPr id="6" name="Shape 4"/>
          <p:cNvSpPr/>
          <p:nvPr/>
        </p:nvSpPr>
        <p:spPr>
          <a:xfrm>
            <a:off x="8286750" y="0"/>
            <a:ext cx="857250" cy="5143500"/>
          </a:xfrm>
          <a:prstGeom prst="rect">
            <a:avLst/>
          </a:prstGeom>
          <a:solidFill>
            <a:srgbClr val="F5F5F7"/>
          </a:solidFill>
          <a:ln/>
        </p:spPr>
      </p:sp>
      <p:sp>
        <p:nvSpPr>
          <p:cNvPr id="7" name="Text 5"/>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8" name="Text 6"/>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20</a:t>
            </a:r>
            <a:endParaRPr lang="en-US" sz="1283" dirty="0"/>
          </a:p>
        </p:txBody>
      </p:sp>
      <p:pic>
        <p:nvPicPr>
          <p:cNvPr id="9" name="Image 0" descr="preencoded.png">    </p:cNvPr>
          <p:cNvPicPr>
            <a:picLocks noChangeAspect="1"/>
          </p:cNvPicPr>
          <p:nvPr/>
        </p:nvPicPr>
        <p:blipFill>
          <a:blip r:embed="rId2"/>
          <a:srcRect l="0" r="0" t="0" b="0"/>
          <a:stretch/>
        </p:blipFill>
        <p:spPr>
          <a:xfrm>
            <a:off x="7724775" y="438150"/>
            <a:ext cx="1419225" cy="8001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0"/>
            <a:ext cx="8286750" cy="5143500"/>
          </a:xfrm>
          <a:prstGeom prst="rect">
            <a:avLst/>
          </a:prstGeom>
          <a:noFill/>
          <a:ln/>
        </p:spPr>
      </p:sp>
      <p:sp>
        <p:nvSpPr>
          <p:cNvPr id="4" name="Text 2"/>
          <p:cNvSpPr/>
          <p:nvPr/>
        </p:nvSpPr>
        <p:spPr>
          <a:xfrm>
            <a:off x="476250" y="3933825"/>
            <a:ext cx="7334250" cy="733425"/>
          </a:xfrm>
          <a:prstGeom prst="rect">
            <a:avLst/>
          </a:prstGeom>
          <a:noFill/>
          <a:ln/>
        </p:spPr>
        <p:txBody>
          <a:bodyPr wrap="square" lIns="0" tIns="0" rIns="0" bIns="0" rtlCol="0" anchor="t"/>
          <a:lstStyle/>
          <a:p>
            <a:pPr algn="l" indent="0" marL="0">
              <a:lnSpc>
                <a:spcPts val="5472"/>
              </a:lnSpc>
              <a:buNone/>
            </a:pPr>
            <a:r>
              <a:rPr lang="en-US" sz="4560" u="sng" spc="-91" kern="0" dirty="0">
                <a:solidFill>
                  <a:srgbClr val="000000">
                    <a:alpha val="99000"/>
                  </a:srgbClr>
                </a:solidFill>
                <a:latin typeface="SF Pro" pitchFamily="34" charset="0"/>
                <a:ea typeface="SF Pro" pitchFamily="34" charset="-122"/>
                <a:cs typeface="SF Pro" pitchFamily="34" charset="-120"/>
              </a:rPr>
              <a:t>Key Performance Indicators</a:t>
            </a:r>
            <a:endParaRPr lang="en-US" sz="4560" dirty="0"/>
          </a:p>
        </p:txBody>
      </p:sp>
      <p:sp>
        <p:nvSpPr>
          <p:cNvPr id="5" name="Shape 3"/>
          <p:cNvSpPr/>
          <p:nvPr/>
        </p:nvSpPr>
        <p:spPr>
          <a:xfrm>
            <a:off x="8286750" y="0"/>
            <a:ext cx="857250" cy="5143500"/>
          </a:xfrm>
          <a:prstGeom prst="rect">
            <a:avLst/>
          </a:prstGeom>
          <a:solidFill>
            <a:srgbClr val="F5F5F7"/>
          </a:solidFill>
          <a:ln/>
        </p:spPr>
      </p:sp>
      <p:sp>
        <p:nvSpPr>
          <p:cNvPr id="6" name="Text 4"/>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7" name="Text 5"/>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21</a:t>
            </a:r>
            <a:endParaRPr lang="en-US" sz="1283" dirty="0"/>
          </a:p>
        </p:txBody>
      </p:sp>
      <p:pic>
        <p:nvPicPr>
          <p:cNvPr id="8" name="Image 0" descr="preencoded.png">    </p:cNvPr>
          <p:cNvPicPr>
            <a:picLocks noChangeAspect="1"/>
          </p:cNvPicPr>
          <p:nvPr/>
        </p:nvPicPr>
        <p:blipFill>
          <a:blip r:embed="rId1"/>
          <a:srcRect l="0" r="0" t="0" b="0"/>
          <a:stretch/>
        </p:blipFill>
        <p:spPr>
          <a:xfrm>
            <a:off x="7724775" y="438150"/>
            <a:ext cx="1419225" cy="8001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8769350" cy="5143500"/>
          </a:xfrm>
          <a:prstGeom prst="rect">
            <a:avLst/>
          </a:prstGeom>
          <a:noFill/>
          <a:ln/>
        </p:spPr>
      </p:sp>
      <p:sp>
        <p:nvSpPr>
          <p:cNvPr id="3" name="Shape 1"/>
          <p:cNvSpPr/>
          <p:nvPr/>
        </p:nvSpPr>
        <p:spPr>
          <a:xfrm>
            <a:off x="0" y="0"/>
            <a:ext cx="8769350" cy="5143500"/>
          </a:xfrm>
          <a:prstGeom prst="rect">
            <a:avLst/>
          </a:prstGeom>
          <a:noFill/>
          <a:ln/>
        </p:spPr>
      </p:sp>
      <p:sp>
        <p:nvSpPr>
          <p:cNvPr id="4" name="Text 2"/>
          <p:cNvSpPr/>
          <p:nvPr/>
        </p:nvSpPr>
        <p:spPr>
          <a:xfrm>
            <a:off x="476250" y="476250"/>
            <a:ext cx="7816850" cy="490538"/>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KPIs</a:t>
            </a:r>
            <a:endParaRPr lang="en-US" sz="3064" dirty="0"/>
          </a:p>
        </p:txBody>
      </p:sp>
      <p:sp>
        <p:nvSpPr>
          <p:cNvPr id="5" name="Shape 3"/>
          <p:cNvSpPr/>
          <p:nvPr/>
        </p:nvSpPr>
        <p:spPr>
          <a:xfrm>
            <a:off x="476250" y="1881187"/>
            <a:ext cx="7816850" cy="2462213"/>
          </a:xfrm>
          <a:prstGeom prst="rect">
            <a:avLst/>
          </a:prstGeom>
          <a:noFill/>
          <a:ln/>
        </p:spPr>
      </p:sp>
      <p:sp>
        <p:nvSpPr>
          <p:cNvPr id="6" name="Shape 4"/>
          <p:cNvSpPr/>
          <p:nvPr/>
        </p:nvSpPr>
        <p:spPr>
          <a:xfrm>
            <a:off x="476250" y="1881187"/>
            <a:ext cx="2127250" cy="2462213"/>
          </a:xfrm>
          <a:prstGeom prst="rect">
            <a:avLst/>
          </a:prstGeom>
          <a:noFill/>
          <a:ln/>
        </p:spPr>
      </p:sp>
      <p:sp>
        <p:nvSpPr>
          <p:cNvPr id="7" name="Text 5"/>
          <p:cNvSpPr/>
          <p:nvPr/>
        </p:nvSpPr>
        <p:spPr>
          <a:xfrm>
            <a:off x="476250" y="1881187"/>
            <a:ext cx="2127250" cy="204788"/>
          </a:xfrm>
          <a:prstGeom prst="rect">
            <a:avLst/>
          </a:prstGeom>
          <a:noFill/>
          <a:ln/>
        </p:spPr>
        <p:txBody>
          <a:bodyPr wrap="square" lIns="0" tIns="0" rIns="0" bIns="0" rtlCol="0" anchor="t"/>
          <a:lstStyle/>
          <a:p>
            <a:pPr algn="l" indent="0" marL="0">
              <a:lnSpc>
                <a:spcPts val="1539"/>
              </a:lnSpc>
              <a:buNone/>
            </a:pPr>
            <a:r>
              <a:rPr lang="en-US" sz="1283" dirty="0">
                <a:solidFill>
                  <a:srgbClr val="000000">
                    <a:alpha val="99000"/>
                  </a:srgbClr>
                </a:solidFill>
                <a:latin typeface="SF Compact" pitchFamily="34" charset="0"/>
                <a:ea typeface="SF Compact" pitchFamily="34" charset="-122"/>
                <a:cs typeface="SF Compact" pitchFamily="34" charset="-120"/>
              </a:rPr>
              <a:t>Weekly Open Rate</a:t>
            </a:r>
            <a:endParaRPr lang="en-US" sz="1283" dirty="0"/>
          </a:p>
        </p:txBody>
      </p:sp>
      <p:sp>
        <p:nvSpPr>
          <p:cNvPr id="8" name="Text 6"/>
          <p:cNvSpPr/>
          <p:nvPr/>
        </p:nvSpPr>
        <p:spPr>
          <a:xfrm>
            <a:off x="476250" y="2200275"/>
            <a:ext cx="2127250" cy="192881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Measures how frequently users open BioSync each week</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Is the feature a must-have that is being interacted with frequently or is it decorative?</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How much is the feature actually being used?</a:t>
            </a:r>
            <a:endParaRPr lang="en-US" sz="1140" dirty="0"/>
          </a:p>
        </p:txBody>
      </p:sp>
      <p:sp>
        <p:nvSpPr>
          <p:cNvPr id="9" name="Shape 7"/>
          <p:cNvSpPr/>
          <p:nvPr/>
        </p:nvSpPr>
        <p:spPr>
          <a:xfrm>
            <a:off x="3079749" y="1881187"/>
            <a:ext cx="2127250" cy="2462213"/>
          </a:xfrm>
          <a:prstGeom prst="rect">
            <a:avLst/>
          </a:prstGeom>
          <a:noFill/>
          <a:ln/>
        </p:spPr>
      </p:sp>
      <p:sp>
        <p:nvSpPr>
          <p:cNvPr id="10" name="Text 8"/>
          <p:cNvSpPr/>
          <p:nvPr/>
        </p:nvSpPr>
        <p:spPr>
          <a:xfrm>
            <a:off x="3079749" y="1881187"/>
            <a:ext cx="2127250" cy="204788"/>
          </a:xfrm>
          <a:prstGeom prst="rect">
            <a:avLst/>
          </a:prstGeom>
          <a:noFill/>
          <a:ln/>
        </p:spPr>
        <p:txBody>
          <a:bodyPr wrap="square" lIns="0" tIns="0" rIns="0" bIns="0" rtlCol="0" anchor="t"/>
          <a:lstStyle/>
          <a:p>
            <a:pPr algn="l" indent="0" marL="0">
              <a:lnSpc>
                <a:spcPts val="1539"/>
              </a:lnSpc>
              <a:buNone/>
            </a:pPr>
            <a:r>
              <a:rPr lang="en-US" sz="1283" dirty="0">
                <a:solidFill>
                  <a:srgbClr val="000000">
                    <a:alpha val="99000"/>
                  </a:srgbClr>
                </a:solidFill>
                <a:latin typeface="SF Compact" pitchFamily="34" charset="0"/>
                <a:ea typeface="SF Compact" pitchFamily="34" charset="-122"/>
                <a:cs typeface="SF Compact" pitchFamily="34" charset="-120"/>
              </a:rPr>
              <a:t>Average Session Duration</a:t>
            </a:r>
            <a:endParaRPr lang="en-US" sz="1283" dirty="0"/>
          </a:p>
        </p:txBody>
      </p:sp>
      <p:sp>
        <p:nvSpPr>
          <p:cNvPr id="11" name="Text 9"/>
          <p:cNvSpPr/>
          <p:nvPr/>
        </p:nvSpPr>
        <p:spPr>
          <a:xfrm>
            <a:off x="3079749" y="2200275"/>
            <a:ext cx="2127250" cy="2143125"/>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Measures how long users actively engage with the BioSync per visit</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Is the feature just being glanced at or are users interacting with it?</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Does data customization lead to longer, more productive sessions?</a:t>
            </a:r>
            <a:endParaRPr lang="en-US" sz="1140" dirty="0"/>
          </a:p>
        </p:txBody>
      </p:sp>
      <p:sp>
        <p:nvSpPr>
          <p:cNvPr id="12" name="Shape 10"/>
          <p:cNvSpPr/>
          <p:nvPr/>
        </p:nvSpPr>
        <p:spPr>
          <a:xfrm>
            <a:off x="5683250" y="1881187"/>
            <a:ext cx="2609850" cy="2247900"/>
          </a:xfrm>
          <a:prstGeom prst="rect">
            <a:avLst/>
          </a:prstGeom>
          <a:noFill/>
          <a:ln/>
        </p:spPr>
      </p:sp>
      <p:sp>
        <p:nvSpPr>
          <p:cNvPr id="13" name="Text 11"/>
          <p:cNvSpPr/>
          <p:nvPr/>
        </p:nvSpPr>
        <p:spPr>
          <a:xfrm>
            <a:off x="5683250" y="1881187"/>
            <a:ext cx="2609850" cy="204788"/>
          </a:xfrm>
          <a:prstGeom prst="rect">
            <a:avLst/>
          </a:prstGeom>
          <a:noFill/>
          <a:ln/>
        </p:spPr>
        <p:txBody>
          <a:bodyPr wrap="square" lIns="0" tIns="0" rIns="0" bIns="0" rtlCol="0" anchor="t"/>
          <a:lstStyle/>
          <a:p>
            <a:pPr algn="l" indent="0" marL="0">
              <a:lnSpc>
                <a:spcPts val="1539"/>
              </a:lnSpc>
              <a:buNone/>
            </a:pPr>
            <a:r>
              <a:rPr lang="en-US" sz="1283" dirty="0">
                <a:solidFill>
                  <a:srgbClr val="000000">
                    <a:alpha val="99000"/>
                  </a:srgbClr>
                </a:solidFill>
                <a:latin typeface="SF Compact" pitchFamily="34" charset="0"/>
                <a:ea typeface="SF Compact" pitchFamily="34" charset="-122"/>
                <a:cs typeface="SF Compact" pitchFamily="34" charset="-120"/>
              </a:rPr>
              <a:t>Calendar Integration Conversion</a:t>
            </a:r>
            <a:endParaRPr lang="en-US" sz="1283" dirty="0"/>
          </a:p>
        </p:txBody>
      </p:sp>
      <p:sp>
        <p:nvSpPr>
          <p:cNvPr id="14" name="Text 12"/>
          <p:cNvSpPr/>
          <p:nvPr/>
        </p:nvSpPr>
        <p:spPr>
          <a:xfrm>
            <a:off x="5683250" y="2200275"/>
            <a:ext cx="2609850" cy="192881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Measures the rate at which users are syncing their health data into their calendar app</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Is the feature something users want to keep front of mind and visible or is it not worth incorporating?</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Are users caring more about their awareness of their health?</a:t>
            </a:r>
            <a:endParaRPr lang="en-US" sz="1140" dirty="0"/>
          </a:p>
        </p:txBody>
      </p:sp>
      <p:sp>
        <p:nvSpPr>
          <p:cNvPr id="15" name="Text 13"/>
          <p:cNvSpPr/>
          <p:nvPr/>
        </p:nvSpPr>
        <p:spPr>
          <a:xfrm>
            <a:off x="476250" y="1152525"/>
            <a:ext cx="3738563" cy="21431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How is success and performance going to be measured?</a:t>
            </a:r>
            <a:endParaRPr lang="en-US" sz="1140" dirty="0"/>
          </a:p>
        </p:txBody>
      </p:sp>
      <p:sp>
        <p:nvSpPr>
          <p:cNvPr id="16" name="Shape 14"/>
          <p:cNvSpPr/>
          <p:nvPr/>
        </p:nvSpPr>
        <p:spPr>
          <a:xfrm>
            <a:off x="8286750" y="0"/>
            <a:ext cx="857250" cy="5143500"/>
          </a:xfrm>
          <a:prstGeom prst="rect">
            <a:avLst/>
          </a:prstGeom>
          <a:solidFill>
            <a:srgbClr val="F5F5F7"/>
          </a:solidFill>
          <a:ln/>
        </p:spPr>
      </p:sp>
      <p:sp>
        <p:nvSpPr>
          <p:cNvPr id="17" name="Text 15"/>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18" name="Text 16"/>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22</a:t>
            </a:r>
            <a:endParaRPr lang="en-US" sz="1283" dirty="0"/>
          </a:p>
        </p:txBody>
      </p:sp>
      <p:pic>
        <p:nvPicPr>
          <p:cNvPr id="19" name="Image 0" descr="preencoded.png">    </p:cNvPr>
          <p:cNvPicPr>
            <a:picLocks noChangeAspect="1"/>
          </p:cNvPicPr>
          <p:nvPr/>
        </p:nvPicPr>
        <p:blipFill>
          <a:blip r:embed="rId1"/>
          <a:srcRect l="0" r="0" t="0" b="0"/>
          <a:stretch/>
        </p:blipFill>
        <p:spPr>
          <a:xfrm>
            <a:off x="7724775" y="438150"/>
            <a:ext cx="1419225" cy="8001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0"/>
            <a:ext cx="8286750" cy="5143500"/>
          </a:xfrm>
          <a:prstGeom prst="rect">
            <a:avLst/>
          </a:prstGeom>
          <a:noFill/>
          <a:ln/>
        </p:spPr>
      </p:sp>
      <p:sp>
        <p:nvSpPr>
          <p:cNvPr id="4" name="Text 2"/>
          <p:cNvSpPr/>
          <p:nvPr/>
        </p:nvSpPr>
        <p:spPr>
          <a:xfrm>
            <a:off x="476250" y="3933825"/>
            <a:ext cx="7334250" cy="733425"/>
          </a:xfrm>
          <a:prstGeom prst="rect">
            <a:avLst/>
          </a:prstGeom>
          <a:noFill/>
          <a:ln/>
        </p:spPr>
        <p:txBody>
          <a:bodyPr wrap="square" lIns="0" tIns="0" rIns="0" bIns="0" rtlCol="0" anchor="t"/>
          <a:lstStyle/>
          <a:p>
            <a:pPr algn="l" indent="0" marL="0">
              <a:lnSpc>
                <a:spcPts val="5472"/>
              </a:lnSpc>
              <a:buNone/>
            </a:pPr>
            <a:r>
              <a:rPr lang="en-US" sz="4560" u="sng" spc="-91" kern="0" dirty="0">
                <a:solidFill>
                  <a:srgbClr val="000000">
                    <a:alpha val="99000"/>
                  </a:srgbClr>
                </a:solidFill>
                <a:latin typeface="SF Pro" pitchFamily="34" charset="0"/>
                <a:ea typeface="SF Pro" pitchFamily="34" charset="-122"/>
                <a:cs typeface="SF Pro" pitchFamily="34" charset="-120"/>
              </a:rPr>
              <a:t>Stakeholder Management</a:t>
            </a:r>
            <a:endParaRPr lang="en-US" sz="4560" dirty="0"/>
          </a:p>
        </p:txBody>
      </p:sp>
      <p:sp>
        <p:nvSpPr>
          <p:cNvPr id="5" name="Shape 3"/>
          <p:cNvSpPr/>
          <p:nvPr/>
        </p:nvSpPr>
        <p:spPr>
          <a:xfrm>
            <a:off x="8286750" y="0"/>
            <a:ext cx="857250" cy="5143500"/>
          </a:xfrm>
          <a:prstGeom prst="rect">
            <a:avLst/>
          </a:prstGeom>
          <a:solidFill>
            <a:srgbClr val="F5F5F7"/>
          </a:solidFill>
          <a:ln/>
        </p:spPr>
      </p:sp>
      <p:sp>
        <p:nvSpPr>
          <p:cNvPr id="6" name="Text 4"/>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7" name="Text 5"/>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23</a:t>
            </a:r>
            <a:endParaRPr lang="en-US" sz="1283" dirty="0"/>
          </a:p>
        </p:txBody>
      </p:sp>
      <p:pic>
        <p:nvPicPr>
          <p:cNvPr id="8" name="Image 0" descr="preencoded.png">    </p:cNvPr>
          <p:cNvPicPr>
            <a:picLocks noChangeAspect="1"/>
          </p:cNvPicPr>
          <p:nvPr/>
        </p:nvPicPr>
        <p:blipFill>
          <a:blip r:embed="rId1"/>
          <a:srcRect l="0" r="0" t="0" b="0"/>
          <a:stretch/>
        </p:blipFill>
        <p:spPr>
          <a:xfrm>
            <a:off x="7724775" y="438150"/>
            <a:ext cx="1419225" cy="8001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364331"/>
            <a:ext cx="8286750" cy="4414838"/>
          </a:xfrm>
          <a:prstGeom prst="rect">
            <a:avLst/>
          </a:prstGeom>
          <a:noFill/>
          <a:ln/>
        </p:spPr>
      </p:sp>
      <p:sp>
        <p:nvSpPr>
          <p:cNvPr id="4" name="Text 2"/>
          <p:cNvSpPr/>
          <p:nvPr/>
        </p:nvSpPr>
        <p:spPr>
          <a:xfrm>
            <a:off x="476250" y="364331"/>
            <a:ext cx="7334250" cy="490538"/>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Stakeholder Map</a:t>
            </a:r>
            <a:endParaRPr lang="en-US" sz="3064" dirty="0"/>
          </a:p>
        </p:txBody>
      </p:sp>
      <p:sp>
        <p:nvSpPr>
          <p:cNvPr id="5" name="Shape 3"/>
          <p:cNvSpPr/>
          <p:nvPr/>
        </p:nvSpPr>
        <p:spPr>
          <a:xfrm>
            <a:off x="8286750" y="0"/>
            <a:ext cx="857250" cy="5143500"/>
          </a:xfrm>
          <a:prstGeom prst="rect">
            <a:avLst/>
          </a:prstGeom>
          <a:solidFill>
            <a:srgbClr val="F5F5F7"/>
          </a:solidFill>
          <a:ln/>
        </p:spPr>
      </p:sp>
      <p:sp>
        <p:nvSpPr>
          <p:cNvPr id="6" name="Text 4"/>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7" name="Text 5"/>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24</a:t>
            </a:r>
            <a:endParaRPr lang="en-US" sz="1283" dirty="0"/>
          </a:p>
        </p:txBody>
      </p:sp>
      <p:pic>
        <p:nvPicPr>
          <p:cNvPr id="8" name="Image 0" descr="preencoded.png">    </p:cNvPr>
          <p:cNvPicPr>
            <a:picLocks noChangeAspect="1"/>
          </p:cNvPicPr>
          <p:nvPr/>
        </p:nvPicPr>
        <p:blipFill>
          <a:blip r:embed="rId1"/>
          <a:srcRect l="0" r="0" t="0" b="0"/>
          <a:stretch/>
        </p:blipFill>
        <p:spPr>
          <a:xfrm>
            <a:off x="476250" y="857250"/>
            <a:ext cx="7334250" cy="4162425"/>
          </a:xfrm>
          <a:prstGeom prst="rect">
            <a:avLst/>
          </a:prstGeom>
        </p:spPr>
      </p:pic>
      <p:pic>
        <p:nvPicPr>
          <p:cNvPr id="9" name="Image 1" descr="preencoded.png">    </p:cNvPr>
          <p:cNvPicPr>
            <a:picLocks noChangeAspect="1"/>
          </p:cNvPicPr>
          <p:nvPr/>
        </p:nvPicPr>
        <p:blipFill>
          <a:blip r:embed="rId2"/>
          <a:srcRect l="0" r="0" t="0" b="0"/>
          <a:stretch/>
        </p:blipFill>
        <p:spPr>
          <a:xfrm>
            <a:off x="3052763" y="1281112"/>
            <a:ext cx="282606" cy="329882"/>
          </a:xfrm>
          <a:prstGeom prst="rect">
            <a:avLst/>
          </a:prstGeom>
        </p:spPr>
      </p:pic>
      <p:pic>
        <p:nvPicPr>
          <p:cNvPr id="10" name="Image 2" descr="preencoded.png">    </p:cNvPr>
          <p:cNvPicPr>
            <a:picLocks noChangeAspect="1"/>
          </p:cNvPicPr>
          <p:nvPr/>
        </p:nvPicPr>
        <p:blipFill>
          <a:blip r:embed="rId3"/>
          <a:srcRect l="0" r="0" t="0" b="0"/>
          <a:stretch/>
        </p:blipFill>
        <p:spPr>
          <a:xfrm>
            <a:off x="2714624" y="2290762"/>
            <a:ext cx="362238" cy="399231"/>
          </a:xfrm>
          <a:prstGeom prst="rect">
            <a:avLst/>
          </a:prstGeom>
        </p:spPr>
      </p:pic>
      <p:sp>
        <p:nvSpPr>
          <p:cNvPr id="11" name="Text 6"/>
          <p:cNvSpPr/>
          <p:nvPr/>
        </p:nvSpPr>
        <p:spPr>
          <a:xfrm>
            <a:off x="3309938" y="1066800"/>
            <a:ext cx="828675" cy="21431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Compliance</a:t>
            </a:r>
            <a:endParaRPr lang="en-US" sz="1140" dirty="0"/>
          </a:p>
        </p:txBody>
      </p:sp>
      <p:sp>
        <p:nvSpPr>
          <p:cNvPr id="12" name="Text 7"/>
          <p:cNvSpPr/>
          <p:nvPr/>
        </p:nvSpPr>
        <p:spPr>
          <a:xfrm>
            <a:off x="2343150" y="2719388"/>
            <a:ext cx="714375" cy="21431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CEO/Execs</a:t>
            </a:r>
            <a:endParaRPr lang="en-US" sz="1140" dirty="0"/>
          </a:p>
        </p:txBody>
      </p:sp>
      <p:sp>
        <p:nvSpPr>
          <p:cNvPr id="13" name="Text 8"/>
          <p:cNvSpPr/>
          <p:nvPr/>
        </p:nvSpPr>
        <p:spPr>
          <a:xfrm>
            <a:off x="5891213" y="1281113"/>
            <a:ext cx="804863" cy="21431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Engineering</a:t>
            </a:r>
            <a:endParaRPr lang="en-US" sz="1140" dirty="0"/>
          </a:p>
        </p:txBody>
      </p:sp>
      <p:sp>
        <p:nvSpPr>
          <p:cNvPr id="14" name="Text 9"/>
          <p:cNvSpPr/>
          <p:nvPr/>
        </p:nvSpPr>
        <p:spPr>
          <a:xfrm>
            <a:off x="5891213" y="2462213"/>
            <a:ext cx="461963" cy="21431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Design</a:t>
            </a:r>
            <a:endParaRPr lang="en-US" sz="1140" dirty="0"/>
          </a:p>
        </p:txBody>
      </p:sp>
      <p:sp>
        <p:nvSpPr>
          <p:cNvPr id="15" name="Text 10"/>
          <p:cNvSpPr/>
          <p:nvPr/>
        </p:nvSpPr>
        <p:spPr>
          <a:xfrm>
            <a:off x="5915025" y="3529013"/>
            <a:ext cx="381000" cy="21431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Users</a:t>
            </a:r>
            <a:endParaRPr lang="en-US" sz="1140" dirty="0"/>
          </a:p>
        </p:txBody>
      </p:sp>
      <p:pic>
        <p:nvPicPr>
          <p:cNvPr id="16" name="Image 3" descr="preencoded.png">    </p:cNvPr>
          <p:cNvPicPr>
            <a:picLocks noChangeAspect="1"/>
          </p:cNvPicPr>
          <p:nvPr/>
        </p:nvPicPr>
        <p:blipFill>
          <a:blip r:embed="rId4"/>
          <a:srcRect l="0" r="0" t="0" b="0"/>
          <a:stretch/>
        </p:blipFill>
        <p:spPr>
          <a:xfrm>
            <a:off x="5305425" y="3609975"/>
            <a:ext cx="567221" cy="140124"/>
          </a:xfrm>
          <a:prstGeom prst="rect">
            <a:avLst/>
          </a:prstGeom>
        </p:spPr>
      </p:pic>
      <p:pic>
        <p:nvPicPr>
          <p:cNvPr id="17" name="Image 4" descr="preencoded.png">    </p:cNvPr>
          <p:cNvPicPr>
            <a:picLocks noChangeAspect="1"/>
          </p:cNvPicPr>
          <p:nvPr/>
        </p:nvPicPr>
        <p:blipFill>
          <a:blip r:embed="rId5"/>
          <a:srcRect l="0" r="0" t="0" b="0"/>
          <a:stretch/>
        </p:blipFill>
        <p:spPr>
          <a:xfrm>
            <a:off x="5257800" y="2571750"/>
            <a:ext cx="616055" cy="177280"/>
          </a:xfrm>
          <a:prstGeom prst="rect">
            <a:avLst/>
          </a:prstGeom>
        </p:spPr>
      </p:pic>
      <p:pic>
        <p:nvPicPr>
          <p:cNvPr id="18" name="Image 5" descr="preencoded.png">    </p:cNvPr>
          <p:cNvPicPr>
            <a:picLocks noChangeAspect="1"/>
          </p:cNvPicPr>
          <p:nvPr/>
        </p:nvPicPr>
        <p:blipFill>
          <a:blip r:embed="rId6"/>
          <a:srcRect l="0" r="0" t="0" b="0"/>
          <a:stretch/>
        </p:blipFill>
        <p:spPr>
          <a:xfrm>
            <a:off x="5243513" y="1443037"/>
            <a:ext cx="632910" cy="354718"/>
          </a:xfrm>
          <a:prstGeom prst="rect">
            <a:avLst/>
          </a:prstGeom>
        </p:spPr>
      </p:pic>
      <p:pic>
        <p:nvPicPr>
          <p:cNvPr id="19" name="Image 6" descr="preencoded.png">    </p:cNvPr>
          <p:cNvPicPr>
            <a:picLocks noChangeAspect="1"/>
          </p:cNvPicPr>
          <p:nvPr/>
        </p:nvPicPr>
        <p:blipFill>
          <a:blip r:embed="rId7"/>
          <a:srcRect l="0" r="0" t="0" b="0"/>
          <a:stretch/>
        </p:blipFill>
        <p:spPr>
          <a:xfrm>
            <a:off x="7724775" y="438150"/>
            <a:ext cx="1419225" cy="8001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0"/>
            <a:ext cx="8286750" cy="5143500"/>
          </a:xfrm>
          <a:prstGeom prst="rect">
            <a:avLst/>
          </a:prstGeom>
          <a:noFill/>
          <a:ln/>
        </p:spPr>
      </p:sp>
      <p:sp>
        <p:nvSpPr>
          <p:cNvPr id="4" name="Text 2"/>
          <p:cNvSpPr/>
          <p:nvPr/>
        </p:nvSpPr>
        <p:spPr>
          <a:xfrm>
            <a:off x="476250" y="3933825"/>
            <a:ext cx="7334250" cy="733425"/>
          </a:xfrm>
          <a:prstGeom prst="rect">
            <a:avLst/>
          </a:prstGeom>
          <a:noFill/>
          <a:ln/>
        </p:spPr>
        <p:txBody>
          <a:bodyPr wrap="square" lIns="0" tIns="0" rIns="0" bIns="0" rtlCol="0" anchor="t"/>
          <a:lstStyle/>
          <a:p>
            <a:pPr algn="l" indent="0" marL="0">
              <a:lnSpc>
                <a:spcPts val="5472"/>
              </a:lnSpc>
              <a:buNone/>
            </a:pPr>
            <a:r>
              <a:rPr lang="en-US" sz="4560" u="sng" spc="-91" kern="0" dirty="0">
                <a:solidFill>
                  <a:srgbClr val="000000">
                    <a:alpha val="99000"/>
                  </a:srgbClr>
                </a:solidFill>
                <a:latin typeface="SF Pro" pitchFamily="34" charset="0"/>
                <a:ea typeface="SF Pro" pitchFamily="34" charset="-122"/>
                <a:cs typeface="SF Pro" pitchFamily="34" charset="-120"/>
              </a:rPr>
              <a:t>Roadmapping</a:t>
            </a:r>
            <a:endParaRPr lang="en-US" sz="4560" dirty="0"/>
          </a:p>
        </p:txBody>
      </p:sp>
      <p:sp>
        <p:nvSpPr>
          <p:cNvPr id="5" name="Shape 3"/>
          <p:cNvSpPr/>
          <p:nvPr/>
        </p:nvSpPr>
        <p:spPr>
          <a:xfrm>
            <a:off x="8286750" y="0"/>
            <a:ext cx="857250" cy="5143500"/>
          </a:xfrm>
          <a:prstGeom prst="rect">
            <a:avLst/>
          </a:prstGeom>
          <a:solidFill>
            <a:srgbClr val="F5F5F7"/>
          </a:solidFill>
          <a:ln/>
        </p:spPr>
      </p:sp>
      <p:sp>
        <p:nvSpPr>
          <p:cNvPr id="6" name="Text 4"/>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7" name="Text 5"/>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25</a:t>
            </a:r>
            <a:endParaRPr lang="en-US" sz="1283" dirty="0"/>
          </a:p>
        </p:txBody>
      </p:sp>
      <p:pic>
        <p:nvPicPr>
          <p:cNvPr id="8" name="Image 0" descr="preencoded.png">    </p:cNvPr>
          <p:cNvPicPr>
            <a:picLocks noChangeAspect="1"/>
          </p:cNvPicPr>
          <p:nvPr/>
        </p:nvPicPr>
        <p:blipFill>
          <a:blip r:embed="rId1"/>
          <a:srcRect l="0" r="0" t="0" b="0"/>
          <a:stretch/>
        </p:blipFill>
        <p:spPr>
          <a:xfrm>
            <a:off x="7724775" y="438150"/>
            <a:ext cx="1419225" cy="8001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364331"/>
            <a:ext cx="8286750" cy="4414838"/>
          </a:xfrm>
          <a:prstGeom prst="rect">
            <a:avLst/>
          </a:prstGeom>
          <a:noFill/>
          <a:ln/>
        </p:spPr>
      </p:sp>
      <p:sp>
        <p:nvSpPr>
          <p:cNvPr id="4" name="Text 2"/>
          <p:cNvSpPr/>
          <p:nvPr/>
        </p:nvSpPr>
        <p:spPr>
          <a:xfrm>
            <a:off x="476250" y="364331"/>
            <a:ext cx="7334250" cy="490538"/>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Roadmap</a:t>
            </a:r>
            <a:endParaRPr lang="en-US" sz="3064" dirty="0"/>
          </a:p>
        </p:txBody>
      </p:sp>
      <p:sp>
        <p:nvSpPr>
          <p:cNvPr id="5" name="Shape 3"/>
          <p:cNvSpPr/>
          <p:nvPr/>
        </p:nvSpPr>
        <p:spPr>
          <a:xfrm>
            <a:off x="8286750" y="0"/>
            <a:ext cx="857250" cy="5143500"/>
          </a:xfrm>
          <a:prstGeom prst="rect">
            <a:avLst/>
          </a:prstGeom>
          <a:solidFill>
            <a:srgbClr val="F5F5F7"/>
          </a:solidFill>
          <a:ln/>
        </p:spPr>
      </p:sp>
      <p:sp>
        <p:nvSpPr>
          <p:cNvPr id="6" name="Text 4"/>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7" name="Text 5"/>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26</a:t>
            </a:r>
            <a:endParaRPr lang="en-US" sz="1283" dirty="0"/>
          </a:p>
        </p:txBody>
      </p:sp>
      <p:pic>
        <p:nvPicPr>
          <p:cNvPr id="8" name="Image 0" descr="preencoded.png">    </p:cNvPr>
          <p:cNvPicPr>
            <a:picLocks noChangeAspect="1"/>
          </p:cNvPicPr>
          <p:nvPr/>
        </p:nvPicPr>
        <p:blipFill>
          <a:blip r:embed="rId1"/>
          <a:srcRect l="0" r="0" t="0" b="0"/>
          <a:stretch/>
        </p:blipFill>
        <p:spPr>
          <a:xfrm>
            <a:off x="100013" y="1238250"/>
            <a:ext cx="7873882" cy="3543300"/>
          </a:xfrm>
          <a:prstGeom prst="rect">
            <a:avLst/>
          </a:prstGeom>
        </p:spPr>
      </p:pic>
      <p:pic>
        <p:nvPicPr>
          <p:cNvPr id="9" name="Image 1" descr="preencoded.png">    </p:cNvPr>
          <p:cNvPicPr>
            <a:picLocks noChangeAspect="1"/>
          </p:cNvPicPr>
          <p:nvPr/>
        </p:nvPicPr>
        <p:blipFill>
          <a:blip r:embed="rId2"/>
          <a:srcRect l="0" r="0" t="0" b="0"/>
          <a:stretch/>
        </p:blipFill>
        <p:spPr>
          <a:xfrm>
            <a:off x="7724775" y="438150"/>
            <a:ext cx="1419225" cy="8001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364331"/>
            <a:ext cx="8286750" cy="4414838"/>
          </a:xfrm>
          <a:prstGeom prst="rect">
            <a:avLst/>
          </a:prstGeom>
          <a:noFill/>
          <a:ln/>
        </p:spPr>
      </p:sp>
      <p:sp>
        <p:nvSpPr>
          <p:cNvPr id="4" name="Text 2"/>
          <p:cNvSpPr/>
          <p:nvPr/>
        </p:nvSpPr>
        <p:spPr>
          <a:xfrm>
            <a:off x="476250" y="364331"/>
            <a:ext cx="7334250" cy="490538"/>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Release Plan</a:t>
            </a:r>
            <a:endParaRPr lang="en-US" sz="3064" dirty="0"/>
          </a:p>
        </p:txBody>
      </p:sp>
      <p:sp>
        <p:nvSpPr>
          <p:cNvPr id="5" name="Shape 3"/>
          <p:cNvSpPr/>
          <p:nvPr/>
        </p:nvSpPr>
        <p:spPr>
          <a:xfrm>
            <a:off x="8286750" y="0"/>
            <a:ext cx="857250" cy="5143500"/>
          </a:xfrm>
          <a:prstGeom prst="rect">
            <a:avLst/>
          </a:prstGeom>
          <a:solidFill>
            <a:srgbClr val="F5F5F7"/>
          </a:solidFill>
          <a:ln/>
        </p:spPr>
      </p:sp>
      <p:sp>
        <p:nvSpPr>
          <p:cNvPr id="6" name="Text 4"/>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7" name="Text 5"/>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27</a:t>
            </a:r>
            <a:endParaRPr lang="en-US" sz="1283" dirty="0"/>
          </a:p>
        </p:txBody>
      </p:sp>
      <p:pic>
        <p:nvPicPr>
          <p:cNvPr id="8" name="Image 0" descr="preencoded.png">    </p:cNvPr>
          <p:cNvPicPr>
            <a:picLocks noChangeAspect="1"/>
          </p:cNvPicPr>
          <p:nvPr/>
        </p:nvPicPr>
        <p:blipFill>
          <a:blip r:embed="rId1"/>
          <a:srcRect l="0" r="0" t="0" b="0"/>
          <a:stretch/>
        </p:blipFill>
        <p:spPr>
          <a:xfrm>
            <a:off x="338138" y="1152525"/>
            <a:ext cx="7605713" cy="3629025"/>
          </a:xfrm>
          <a:prstGeom prst="rect">
            <a:avLst/>
          </a:prstGeom>
        </p:spPr>
      </p:pic>
      <p:pic>
        <p:nvPicPr>
          <p:cNvPr id="9" name="Image 1" descr="preencoded.png">    </p:cNvPr>
          <p:cNvPicPr>
            <a:picLocks noChangeAspect="1"/>
          </p:cNvPicPr>
          <p:nvPr/>
        </p:nvPicPr>
        <p:blipFill>
          <a:blip r:embed="rId2"/>
          <a:srcRect l="0" r="0" t="0" b="0"/>
          <a:stretch/>
        </p:blipFill>
        <p:spPr>
          <a:xfrm>
            <a:off x="7724775" y="438150"/>
            <a:ext cx="1419225" cy="8001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0"/>
            <a:ext cx="8286750" cy="5143500"/>
          </a:xfrm>
          <a:prstGeom prst="rect">
            <a:avLst/>
          </a:prstGeom>
          <a:noFill/>
          <a:ln/>
        </p:spPr>
      </p:sp>
      <p:sp>
        <p:nvSpPr>
          <p:cNvPr id="4" name="Text 2"/>
          <p:cNvSpPr/>
          <p:nvPr/>
        </p:nvSpPr>
        <p:spPr>
          <a:xfrm>
            <a:off x="476250" y="3933825"/>
            <a:ext cx="7334250" cy="733425"/>
          </a:xfrm>
          <a:prstGeom prst="rect">
            <a:avLst/>
          </a:prstGeom>
          <a:noFill/>
          <a:ln/>
        </p:spPr>
        <p:txBody>
          <a:bodyPr wrap="square" lIns="0" tIns="0" rIns="0" bIns="0" rtlCol="0" anchor="t"/>
          <a:lstStyle/>
          <a:p>
            <a:pPr algn="l" indent="0" marL="0">
              <a:lnSpc>
                <a:spcPts val="5472"/>
              </a:lnSpc>
              <a:buNone/>
            </a:pPr>
            <a:r>
              <a:rPr lang="en-US" sz="4560" u="sng" spc="-91" kern="0" dirty="0">
                <a:solidFill>
                  <a:srgbClr val="000000">
                    <a:alpha val="99000"/>
                  </a:srgbClr>
                </a:solidFill>
                <a:latin typeface="SF Pro" pitchFamily="34" charset="0"/>
                <a:ea typeface="SF Pro" pitchFamily="34" charset="-122"/>
                <a:cs typeface="SF Pro" pitchFamily="34" charset="-120"/>
              </a:rPr>
              <a:t>Growth and Revenue</a:t>
            </a:r>
            <a:endParaRPr lang="en-US" sz="4560" dirty="0"/>
          </a:p>
        </p:txBody>
      </p:sp>
      <p:sp>
        <p:nvSpPr>
          <p:cNvPr id="5" name="Shape 3"/>
          <p:cNvSpPr/>
          <p:nvPr/>
        </p:nvSpPr>
        <p:spPr>
          <a:xfrm>
            <a:off x="8286750" y="0"/>
            <a:ext cx="857250" cy="5143500"/>
          </a:xfrm>
          <a:prstGeom prst="rect">
            <a:avLst/>
          </a:prstGeom>
          <a:solidFill>
            <a:srgbClr val="F5F5F7"/>
          </a:solidFill>
          <a:ln/>
        </p:spPr>
      </p:sp>
      <p:sp>
        <p:nvSpPr>
          <p:cNvPr id="6" name="Text 4"/>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7" name="Text 5"/>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28</a:t>
            </a:r>
            <a:endParaRPr lang="en-US" sz="1283" dirty="0"/>
          </a:p>
        </p:txBody>
      </p:sp>
      <p:pic>
        <p:nvPicPr>
          <p:cNvPr id="8" name="Image 0" descr="preencoded.png">    </p:cNvPr>
          <p:cNvPicPr>
            <a:picLocks noChangeAspect="1"/>
          </p:cNvPicPr>
          <p:nvPr/>
        </p:nvPicPr>
        <p:blipFill>
          <a:blip r:embed="rId1"/>
          <a:srcRect l="0" r="0" t="0" b="0"/>
          <a:stretch/>
        </p:blipFill>
        <p:spPr>
          <a:xfrm>
            <a:off x="7724775" y="438150"/>
            <a:ext cx="1419225" cy="8001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364331"/>
            <a:ext cx="8286750" cy="4414838"/>
          </a:xfrm>
          <a:prstGeom prst="rect">
            <a:avLst/>
          </a:prstGeom>
          <a:noFill/>
          <a:ln/>
        </p:spPr>
      </p:sp>
      <p:sp>
        <p:nvSpPr>
          <p:cNvPr id="4" name="Text 2"/>
          <p:cNvSpPr/>
          <p:nvPr/>
        </p:nvSpPr>
        <p:spPr>
          <a:xfrm>
            <a:off x="476250" y="364331"/>
            <a:ext cx="7334250" cy="490538"/>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Growth</a:t>
            </a:r>
            <a:endParaRPr lang="en-US" sz="3064" dirty="0"/>
          </a:p>
        </p:txBody>
      </p:sp>
      <p:sp>
        <p:nvSpPr>
          <p:cNvPr id="5" name="Shape 3"/>
          <p:cNvSpPr/>
          <p:nvPr/>
        </p:nvSpPr>
        <p:spPr>
          <a:xfrm>
            <a:off x="8286750" y="0"/>
            <a:ext cx="857250" cy="5143500"/>
          </a:xfrm>
          <a:prstGeom prst="rect">
            <a:avLst/>
          </a:prstGeom>
          <a:solidFill>
            <a:srgbClr val="F5F5F7"/>
          </a:solidFill>
          <a:ln/>
        </p:spPr>
      </p:sp>
      <p:sp>
        <p:nvSpPr>
          <p:cNvPr id="6" name="Text 4"/>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7" name="Text 5"/>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29</a:t>
            </a:r>
            <a:endParaRPr lang="en-US" sz="1283" dirty="0"/>
          </a:p>
        </p:txBody>
      </p:sp>
      <p:sp>
        <p:nvSpPr>
          <p:cNvPr id="8" name="Text 6"/>
          <p:cNvSpPr/>
          <p:nvPr/>
        </p:nvSpPr>
        <p:spPr>
          <a:xfrm>
            <a:off x="4467225" y="1181100"/>
            <a:ext cx="3714750" cy="278606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Objective 2:</a:t>
            </a:r>
            <a:endParaRPr lang="en-US" sz="1140" dirty="0"/>
          </a:p>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	Increase user control and interaction with their Health data to drive sales of wearables (Apple Watch).</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KR1: </a:t>
            </a:r>
            <a:endParaRPr lang="en-US" sz="1140" dirty="0"/>
          </a:p>
          <a:p>
            <a:pPr algn="l" lvl="1" marL="6858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Increase average use of custom ranges from 6x a year per user to 10x a year per user.</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KR2: </a:t>
            </a:r>
            <a:endParaRPr lang="en-US" sz="1140" dirty="0"/>
          </a:p>
          <a:p>
            <a:pPr algn="l" lvl="1" marL="6858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Achieve a % increase in exports of 10% across all users.</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KR3:</a:t>
            </a:r>
            <a:endParaRPr lang="en-US" sz="1140" dirty="0"/>
          </a:p>
          <a:p>
            <a:pPr algn="l" lvl="1" marL="6858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Achieve a margin of error of 0.01 units in data tracking.</a:t>
            </a:r>
            <a:endParaRPr lang="en-US" sz="1140" dirty="0"/>
          </a:p>
        </p:txBody>
      </p:sp>
      <p:sp>
        <p:nvSpPr>
          <p:cNvPr id="9" name="Text 7"/>
          <p:cNvSpPr/>
          <p:nvPr/>
        </p:nvSpPr>
        <p:spPr>
          <a:xfrm>
            <a:off x="357188" y="1181100"/>
            <a:ext cx="3933825" cy="2786063"/>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Objective 1:</a:t>
            </a:r>
            <a:endParaRPr lang="en-US" sz="1140" dirty="0"/>
          </a:p>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	Increase user stickiness between apps (Health and Calendar) for elevated retention and engagement.</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KR1: </a:t>
            </a:r>
            <a:endParaRPr lang="en-US" sz="1140" dirty="0"/>
          </a:p>
          <a:p>
            <a:pPr algn="l" lvl="1" marL="6858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Increase CTR of the “Open Calendar” button in the Health app from 50% to 75%.</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KR2: </a:t>
            </a:r>
            <a:endParaRPr lang="en-US" sz="1140" dirty="0"/>
          </a:p>
          <a:p>
            <a:pPr algn="l" lvl="1" marL="6858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Decrease buffer time between switching apps from 25 sec to 10 sec.</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KR3:</a:t>
            </a:r>
            <a:endParaRPr lang="en-US" sz="1140" dirty="0"/>
          </a:p>
          <a:p>
            <a:pPr algn="l" lvl="1" marL="6858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Achieve an average frequency of Biosync Calendar interactions/visits of 2x a week per user.</a:t>
            </a:r>
            <a:endParaRPr lang="en-US" sz="1140" dirty="0"/>
          </a:p>
        </p:txBody>
      </p:sp>
      <p:pic>
        <p:nvPicPr>
          <p:cNvPr id="10" name="Image 0" descr="preencoded.png">    </p:cNvPr>
          <p:cNvPicPr>
            <a:picLocks noChangeAspect="1"/>
          </p:cNvPicPr>
          <p:nvPr/>
        </p:nvPicPr>
        <p:blipFill>
          <a:blip r:embed="rId1"/>
          <a:srcRect l="0" r="0" t="0" b="0"/>
          <a:stretch/>
        </p:blipFill>
        <p:spPr>
          <a:xfrm>
            <a:off x="7724775" y="438150"/>
            <a:ext cx="1419225" cy="8001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noFill/>
          <a:ln/>
        </p:spPr>
      </p:sp>
      <p:sp>
        <p:nvSpPr>
          <p:cNvPr id="3" name="Shape 1"/>
          <p:cNvSpPr/>
          <p:nvPr/>
        </p:nvSpPr>
        <p:spPr>
          <a:xfrm>
            <a:off x="0" y="364331"/>
            <a:ext cx="8286750" cy="4414838"/>
          </a:xfrm>
          <a:prstGeom prst="rect">
            <a:avLst/>
          </a:prstGeom>
          <a:noFill/>
          <a:ln/>
        </p:spPr>
      </p:sp>
      <p:sp>
        <p:nvSpPr>
          <p:cNvPr id="4" name="Text 2"/>
          <p:cNvSpPr/>
          <p:nvPr/>
        </p:nvSpPr>
        <p:spPr>
          <a:xfrm>
            <a:off x="476250" y="364331"/>
            <a:ext cx="7334250" cy="490538"/>
          </a:xfrm>
          <a:prstGeom prst="rect">
            <a:avLst/>
          </a:prstGeom>
          <a:noFill/>
          <a:ln/>
        </p:spPr>
        <p:txBody>
          <a:bodyPr wrap="square" lIns="0" tIns="0" rIns="0" bIns="0" rtlCol="0" anchor="t"/>
          <a:lstStyle/>
          <a:p>
            <a:pPr algn="l" indent="0" marL="0">
              <a:lnSpc>
                <a:spcPts val="3677"/>
              </a:lnSpc>
              <a:buNone/>
            </a:pPr>
            <a:r>
              <a:rPr lang="en-US" sz="3064" spc="-61" kern="0" dirty="0">
                <a:solidFill>
                  <a:srgbClr val="000000">
                    <a:alpha val="99000"/>
                  </a:srgbClr>
                </a:solidFill>
                <a:latin typeface="SF Pro" pitchFamily="34" charset="0"/>
                <a:ea typeface="SF Pro" pitchFamily="34" charset="-122"/>
                <a:cs typeface="SF Pro" pitchFamily="34" charset="-120"/>
              </a:rPr>
              <a:t>Revenue</a:t>
            </a:r>
            <a:endParaRPr lang="en-US" sz="3064" dirty="0"/>
          </a:p>
        </p:txBody>
      </p:sp>
      <p:sp>
        <p:nvSpPr>
          <p:cNvPr id="5" name="Shape 3"/>
          <p:cNvSpPr/>
          <p:nvPr/>
        </p:nvSpPr>
        <p:spPr>
          <a:xfrm>
            <a:off x="8286750" y="0"/>
            <a:ext cx="857250" cy="5143500"/>
          </a:xfrm>
          <a:prstGeom prst="rect">
            <a:avLst/>
          </a:prstGeom>
          <a:solidFill>
            <a:srgbClr val="F5F5F7"/>
          </a:solidFill>
          <a:ln/>
        </p:spPr>
      </p:sp>
      <p:sp>
        <p:nvSpPr>
          <p:cNvPr id="6" name="Text 4"/>
          <p:cNvSpPr/>
          <p:nvPr/>
        </p:nvSpPr>
        <p:spPr>
          <a:xfrm rot="-5400000">
            <a:off x="7377113" y="1814512"/>
            <a:ext cx="2667000" cy="171450"/>
          </a:xfrm>
          <a:prstGeom prst="rect">
            <a:avLst/>
          </a:prstGeom>
          <a:noFill/>
          <a:ln/>
        </p:spPr>
        <p:txBody>
          <a:bodyPr wrap="square" lIns="0" tIns="0" rIns="0" bIns="0" rtlCol="0" anchor="t"/>
          <a:lstStyle/>
          <a:p>
            <a:pPr algn="r" indent="0" marL="0">
              <a:lnSpc>
                <a:spcPts val="1283"/>
              </a:lnSpc>
              <a:buNone/>
            </a:pPr>
            <a:r>
              <a:rPr lang="en-US" sz="1283" spc="-13" kern="0" dirty="0">
                <a:solidFill>
                  <a:srgbClr val="F5F5F7">
                    <a:alpha val="99000"/>
                  </a:srgbClr>
                </a:solidFill>
                <a:latin typeface="SF Compact" pitchFamily="34" charset="0"/>
                <a:ea typeface="SF Compact" pitchFamily="34" charset="-122"/>
                <a:cs typeface="SF Compact" pitchFamily="34" charset="-120"/>
              </a:rPr>
              <a:t>NYU — PMC</a:t>
            </a:r>
            <a:endParaRPr lang="en-US" sz="1283" dirty="0"/>
          </a:p>
        </p:txBody>
      </p:sp>
      <p:sp>
        <p:nvSpPr>
          <p:cNvPr id="7" name="Text 5"/>
          <p:cNvSpPr/>
          <p:nvPr/>
        </p:nvSpPr>
        <p:spPr>
          <a:xfrm>
            <a:off x="8524875" y="4400550"/>
            <a:ext cx="381000" cy="171450"/>
          </a:xfrm>
          <a:prstGeom prst="rect">
            <a:avLst/>
          </a:prstGeom>
          <a:noFill/>
          <a:ln/>
        </p:spPr>
        <p:txBody>
          <a:bodyPr wrap="square" lIns="0" tIns="0" rIns="0" bIns="0" rtlCol="0" anchor="t"/>
          <a:lstStyle/>
          <a:p>
            <a:pPr algn="ctr" indent="0" marL="0">
              <a:lnSpc>
                <a:spcPts val="1283"/>
              </a:lnSpc>
              <a:buNone/>
            </a:pPr>
            <a:r>
              <a:rPr lang="en-US" sz="1283" spc="-13" kern="0" dirty="0">
                <a:solidFill>
                  <a:srgbClr val="717378">
                    <a:alpha val="99000"/>
                  </a:srgbClr>
                </a:solidFill>
                <a:latin typeface="SF Compact" pitchFamily="34" charset="0"/>
                <a:ea typeface="SF Compact" pitchFamily="34" charset="-122"/>
                <a:cs typeface="SF Compact" pitchFamily="34" charset="-120"/>
              </a:rPr>
              <a:t>30</a:t>
            </a:r>
            <a:endParaRPr lang="en-US" sz="1283" dirty="0"/>
          </a:p>
        </p:txBody>
      </p:sp>
      <p:sp>
        <p:nvSpPr>
          <p:cNvPr id="8" name="Text 6"/>
          <p:cNvSpPr/>
          <p:nvPr/>
        </p:nvSpPr>
        <p:spPr>
          <a:xfrm>
            <a:off x="4214813" y="1123950"/>
            <a:ext cx="3771900" cy="1285875"/>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Fitness+ Revenue Growth</a:t>
            </a:r>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 </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	Increase the value of the Fitness+ subscription</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Only subscribers can see their daily activity rings on the calendar overlay </a:t>
            </a:r>
            <a:endParaRPr lang="en-US" sz="1140" dirty="0"/>
          </a:p>
        </p:txBody>
      </p:sp>
      <p:sp>
        <p:nvSpPr>
          <p:cNvPr id="9" name="Text 7"/>
          <p:cNvSpPr/>
          <p:nvPr/>
        </p:nvSpPr>
        <p:spPr>
          <a:xfrm>
            <a:off x="342900" y="1123950"/>
            <a:ext cx="3733800" cy="2357438"/>
          </a:xfrm>
          <a:prstGeom prst="rect">
            <a:avLst/>
          </a:prstGeom>
          <a:noFill/>
          <a:ln/>
        </p:spPr>
        <p:txBody>
          <a:bodyPr wrap="square" lIns="0" tIns="0" rIns="0" bIns="0" rtlCol="0" anchor="t"/>
          <a:lstStyle/>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Feature Revenue Drivers</a:t>
            </a:r>
            <a:endParaRPr lang="en-US" sz="1140" dirty="0"/>
          </a:p>
          <a:p>
            <a:pPr algn="l" indent="0" marL="0">
              <a:lnSpc>
                <a:spcPts val="1596"/>
              </a:lnSpc>
              <a:buNone/>
            </a:pPr>
            <a:r>
              <a:rPr lang="en-US" sz="1140" dirty="0">
                <a:solidFill>
                  <a:srgbClr val="000000">
                    <a:alpha val="99000"/>
                  </a:srgbClr>
                </a:solidFill>
                <a:latin typeface="SF Compact" pitchFamily="34" charset="0"/>
                <a:ea typeface="SF Compact" pitchFamily="34" charset="-122"/>
                <a:cs typeface="SF Compact" pitchFamily="34" charset="-120"/>
              </a:rPr>
              <a:t>	</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Locks users into Apple’s ecosystem</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Inter-connection between the Health app and the Calendar app</a:t>
            </a:r>
            <a:endParaRPr lang="en-US" sz="1140" dirty="0"/>
          </a:p>
          <a:p>
            <a:pPr algn="l" lvl="1" marL="6858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User stickiness</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Technical features + power features can be put behind a premium model</a:t>
            </a:r>
            <a:endParaRPr lang="en-US" sz="1140" dirty="0"/>
          </a:p>
          <a:p>
            <a:pPr algn="l" marL="342900" indent="-342900">
              <a:lnSpc>
                <a:spcPts val="1596"/>
              </a:lnSpc>
              <a:buSzPct val="100000"/>
              <a:buChar char="•"/>
            </a:pPr>
            <a:r>
              <a:rPr lang="en-US" sz="1140" dirty="0">
                <a:solidFill>
                  <a:srgbClr val="000000">
                    <a:alpha val="99000"/>
                  </a:srgbClr>
                </a:solidFill>
                <a:latin typeface="SF Compact" pitchFamily="34" charset="0"/>
                <a:ea typeface="SF Compact" pitchFamily="34" charset="-122"/>
                <a:cs typeface="SF Compact" pitchFamily="34" charset="-120"/>
              </a:rPr>
              <a:t>Greater care for long-term health → Apple Watch purchases</a:t>
            </a:r>
            <a:endParaRPr lang="en-US" sz="1140" dirty="0"/>
          </a:p>
        </p:txBody>
      </p:sp>
      <p:pic>
        <p:nvPicPr>
          <p:cNvPr id="10" name="Image 0" descr="preencoded.png">    </p:cNvPr>
          <p:cNvPicPr>
            <a:picLocks noChangeAspect="1"/>
          </p:cNvPicPr>
          <p:nvPr/>
        </p:nvPicPr>
        <p:blipFill>
          <a:blip r:embed="rId1"/>
          <a:srcRect l="0" r="0" t="0" b="0"/>
          <a:stretch/>
        </p:blipFill>
        <p:spPr>
          <a:xfrm>
            <a:off x="7724775" y="438150"/>
            <a:ext cx="1419225" cy="8001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091613" cy="5143500"/>
          </a:xfrm>
          <a:prstGeom prst="rect">
            <a:avLst/>
          </a:prstGeom>
          <a:noFill/>
          <a:ln/>
        </p:spPr>
      </p:sp>
      <p:sp>
        <p:nvSpPr>
          <p:cNvPr id="3" name="Shape 1"/>
          <p:cNvSpPr/>
          <p:nvPr/>
        </p:nvSpPr>
        <p:spPr>
          <a:xfrm>
            <a:off x="0" y="0"/>
            <a:ext cx="9091613" cy="5143500"/>
          </a:xfrm>
          <a:prstGeom prst="rect">
            <a:avLst/>
          </a:prstGeom>
          <a:noFill/>
          <a:ln/>
        </p:spPr>
      </p:sp>
      <p:sp>
        <p:nvSpPr>
          <p:cNvPr id="4" name="Text 2"/>
          <p:cNvSpPr/>
          <p:nvPr/>
        </p:nvSpPr>
        <p:spPr>
          <a:xfrm>
            <a:off x="476250" y="476250"/>
            <a:ext cx="8139112" cy="733425"/>
          </a:xfrm>
          <a:prstGeom prst="rect">
            <a:avLst/>
          </a:prstGeom>
          <a:noFill/>
          <a:ln/>
        </p:spPr>
        <p:txBody>
          <a:bodyPr wrap="square" lIns="0" tIns="0" rIns="0" bIns="0" rtlCol="0" anchor="t"/>
          <a:lstStyle/>
          <a:p>
            <a:pPr algn="l" indent="0" marL="0">
              <a:lnSpc>
                <a:spcPts val="5472"/>
              </a:lnSpc>
              <a:buNone/>
            </a:pPr>
            <a:r>
              <a:rPr lang="en-US" sz="4560" u="sng" spc="-91" kern="0" dirty="0">
                <a:solidFill>
                  <a:srgbClr val="FFFFFF">
                    <a:alpha val="99000"/>
                  </a:srgbClr>
                </a:solidFill>
                <a:latin typeface="SF Pro" pitchFamily="34" charset="0"/>
                <a:ea typeface="SF Pro" pitchFamily="34" charset="-122"/>
                <a:cs typeface="SF Pro" pitchFamily="34" charset="-120"/>
              </a:rPr>
              <a:t>Thank you!</a:t>
            </a:r>
            <a:endParaRPr lang="en-US" sz="4560" dirty="0"/>
          </a:p>
        </p:txBody>
      </p:sp>
      <p:sp>
        <p:nvSpPr>
          <p:cNvPr id="5" name="Shape 3"/>
          <p:cNvSpPr/>
          <p:nvPr/>
        </p:nvSpPr>
        <p:spPr>
          <a:xfrm>
            <a:off x="476250" y="2402681"/>
            <a:ext cx="8139112" cy="857250"/>
          </a:xfrm>
          <a:prstGeom prst="rect">
            <a:avLst/>
          </a:prstGeom>
          <a:noFill/>
          <a:ln/>
        </p:spPr>
      </p:sp>
      <p:sp>
        <p:nvSpPr>
          <p:cNvPr id="6" name="Text 4"/>
          <p:cNvSpPr/>
          <p:nvPr/>
        </p:nvSpPr>
        <p:spPr>
          <a:xfrm>
            <a:off x="476250" y="2402681"/>
            <a:ext cx="447675" cy="642938"/>
          </a:xfrm>
          <a:prstGeom prst="rect">
            <a:avLst/>
          </a:prstGeom>
          <a:noFill/>
          <a:ln/>
        </p:spPr>
        <p:txBody>
          <a:bodyPr wrap="square" lIns="0" tIns="0" rIns="0" bIns="0" rtlCol="0" anchor="t"/>
          <a:lstStyle/>
          <a:p>
            <a:pPr algn="l" indent="0" marL="0">
              <a:lnSpc>
                <a:spcPts val="1596"/>
              </a:lnSpc>
              <a:buNone/>
            </a:pPr>
            <a:r>
              <a:rPr lang="en-US" sz="1140" dirty="0">
                <a:solidFill>
                  <a:srgbClr val="FFFFFF">
                    <a:alpha val="99000"/>
                  </a:srgbClr>
                </a:solidFill>
                <a:latin typeface="SF Compact" pitchFamily="34" charset="0"/>
                <a:ea typeface="SF Compact" pitchFamily="34" charset="-122"/>
                <a:cs typeface="SF Compact" pitchFamily="34" charset="-120"/>
              </a:rPr>
              <a:t>Email</a:t>
            </a:r>
            <a:endParaRPr lang="en-US" sz="1140" dirty="0"/>
          </a:p>
          <a:p>
            <a:pPr algn="l" indent="0" marL="0">
              <a:lnSpc>
                <a:spcPts val="1596"/>
              </a:lnSpc>
              <a:buNone/>
            </a:pPr>
            <a:r>
              <a:rPr lang="en-US" sz="1140" dirty="0">
                <a:solidFill>
                  <a:srgbClr val="FFFFFF">
                    <a:alpha val="99000"/>
                  </a:srgbClr>
                </a:solidFill>
                <a:latin typeface="SF Compact" pitchFamily="34" charset="0"/>
                <a:ea typeface="SF Compact" pitchFamily="34" charset="-122"/>
                <a:cs typeface="SF Compact" pitchFamily="34" charset="-120"/>
              </a:rPr>
              <a:t>Mobile</a:t>
            </a:r>
            <a:endParaRPr lang="en-US" sz="1140" dirty="0"/>
          </a:p>
        </p:txBody>
      </p:sp>
      <p:sp>
        <p:nvSpPr>
          <p:cNvPr id="7" name="Text 5"/>
          <p:cNvSpPr/>
          <p:nvPr/>
        </p:nvSpPr>
        <p:spPr>
          <a:xfrm>
            <a:off x="1114425" y="2402681"/>
            <a:ext cx="1143000" cy="857250"/>
          </a:xfrm>
          <a:prstGeom prst="rect">
            <a:avLst/>
          </a:prstGeom>
          <a:noFill/>
          <a:ln/>
        </p:spPr>
        <p:txBody>
          <a:bodyPr wrap="square" lIns="0" tIns="0" rIns="0" bIns="0" rtlCol="0" anchor="t"/>
          <a:lstStyle/>
          <a:p>
            <a:pPr algn="l" indent="0" marL="0">
              <a:lnSpc>
                <a:spcPts val="1596"/>
              </a:lnSpc>
              <a:buNone/>
            </a:pPr>
            <a:r>
              <a:rPr lang="en-US" sz="1140" dirty="0">
                <a:solidFill>
                  <a:srgbClr val="FFFFFF">
                    <a:alpha val="99000"/>
                  </a:srgbClr>
                </a:solidFill>
                <a:latin typeface="SF Compact" pitchFamily="34" charset="0"/>
                <a:ea typeface="SF Compact" pitchFamily="34" charset="-122"/>
                <a:cs typeface="SF Compact" pitchFamily="34" charset="-120"/>
              </a:rPr>
              <a:t>pn2418@nyu.edu</a:t>
            </a:r>
            <a:endParaRPr lang="en-US" sz="1140" dirty="0"/>
          </a:p>
          <a:p>
            <a:pPr algn="l" indent="0" marL="0">
              <a:lnSpc>
                <a:spcPts val="1596"/>
              </a:lnSpc>
              <a:buNone/>
            </a:pPr>
            <a:r>
              <a:rPr lang="en-US" sz="1140" dirty="0">
                <a:solidFill>
                  <a:srgbClr val="FFFFFF">
                    <a:alpha val="99000"/>
                  </a:srgbClr>
                </a:solidFill>
                <a:latin typeface="SF Compact" pitchFamily="34" charset="0"/>
                <a:ea typeface="SF Compact" pitchFamily="34" charset="-122"/>
                <a:cs typeface="SF Compact" pitchFamily="34" charset="-120"/>
              </a:rPr>
              <a:t>(408) 717-2980</a:t>
            </a:r>
            <a:endParaRPr lang="en-US" sz="1140" dirty="0"/>
          </a:p>
        </p:txBody>
      </p:sp>
      <p:sp>
        <p:nvSpPr>
          <p:cNvPr id="8" name="Text 6"/>
          <p:cNvSpPr/>
          <p:nvPr/>
        </p:nvSpPr>
        <p:spPr>
          <a:xfrm>
            <a:off x="476250" y="4452938"/>
            <a:ext cx="8139112" cy="214313"/>
          </a:xfrm>
          <a:prstGeom prst="rect">
            <a:avLst/>
          </a:prstGeom>
          <a:noFill/>
          <a:ln/>
        </p:spPr>
        <p:txBody>
          <a:bodyPr wrap="square" lIns="0" tIns="0" rIns="0" bIns="0" rtlCol="0" anchor="t"/>
          <a:lstStyle/>
          <a:p>
            <a:pPr algn="l" indent="0" marL="0">
              <a:lnSpc>
                <a:spcPts val="1596"/>
              </a:lnSpc>
              <a:buNone/>
            </a:pPr>
            <a:r>
              <a:rPr lang="en-US" sz="1140" dirty="0">
                <a:solidFill>
                  <a:srgbClr val="FFFFFF">
                    <a:alpha val="99000"/>
                  </a:srgbClr>
                </a:solidFill>
                <a:latin typeface="SF Compact" pitchFamily="34" charset="0"/>
                <a:ea typeface="SF Compact" pitchFamily="34" charset="-122"/>
                <a:cs typeface="SF Compact" pitchFamily="34" charset="-120"/>
              </a:rPr>
              <a:t>©2025 NYU PMC Product Team</a:t>
            </a:r>
            <a:endParaRPr lang="en-US" sz="1140" dirty="0"/>
          </a:p>
        </p:txBody>
      </p:sp>
      <p:pic>
        <p:nvPicPr>
          <p:cNvPr id="9" name="Image 0" descr="preencoded.png">    </p:cNvPr>
          <p:cNvPicPr>
            <a:picLocks noChangeAspect="1"/>
          </p:cNvPicPr>
          <p:nvPr/>
        </p:nvPicPr>
        <p:blipFill>
          <a:blip r:embed="rId2"/>
          <a:srcRect l="0" r="3465" t="0" b="0"/>
          <a:stretch/>
        </p:blipFill>
        <p:spPr>
          <a:xfrm>
            <a:off x="2509838" y="766763"/>
            <a:ext cx="6634163" cy="360521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2026-10-22T05:14:11Z</dcterms:created>
  <dcterms:modified xsi:type="dcterms:W3CDTF">2026-10-22T05:14:11Z</dcterms:modified>
</cp:coreProperties>
</file>