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embeddedFontLst>
    <p:embeddedFont>
      <p:font typeface="Work Sans"/>
      <p:regular r:id="rId20"/>
    </p:embeddedFont>
    <p:embeddedFont>
      <p:font typeface="Cutive Mono"/>
      <p:regular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rId20.fntdata"/><Relationship Id="rId21" Type="http://schemas.openxmlformats.org/officeDocument/2006/relationships/font" Target="fonts/rId21.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hyperlink" Target="https://www.kaggle.com/datasets/saurograndi/airplane-crashes-since-1908" TargetMode="External"/><Relationship Id="rId5" Type="http://schemas.openxmlformats.org/officeDocument/2006/relationships/hyperlink" Target="https://www.planecrashinfo.com/database.htm" TargetMode="External"/><Relationship Id="rId6" Type="http://schemas.openxmlformats.org/officeDocument/2006/relationships/hyperlink" Target="https://www.kaggle.com/datasets/landfallmotto/airplane-crashes-dataset-since-1908" TargetMode="Externa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190500" y="3038475"/>
            <a:ext cx="5043488" cy="1485900"/>
          </a:xfrm>
          <a:prstGeom prst="rect">
            <a:avLst/>
          </a:prstGeom>
          <a:noFill/>
          <a:ln/>
        </p:spPr>
        <p:txBody>
          <a:bodyPr wrap="square" lIns="0" tIns="0" rIns="0" bIns="0" rtlCol="0" anchor="b"/>
          <a:lstStyle/>
          <a:p>
            <a:pPr algn="l" indent="0" marL="0">
              <a:lnSpc>
                <a:spcPts val="3694"/>
              </a:lnSpc>
              <a:buNone/>
            </a:pPr>
            <a:r>
              <a:rPr lang="en-US" sz="4560" spc="-182" kern="0" dirty="0">
                <a:solidFill>
                  <a:srgbClr val="DCDBCE">
                    <a:alpha val="99000"/>
                  </a:srgbClr>
                </a:solidFill>
                <a:latin typeface="Work Sans" pitchFamily="34" charset="0"/>
                <a:ea typeface="Work Sans" pitchFamily="34" charset="-122"/>
                <a:cs typeface="Work Sans" pitchFamily="34" charset="-120"/>
              </a:rPr>
              <a:t>PREDICTING</a:t>
            </a:r>
            <a:endParaRPr lang="en-US" sz="4560" dirty="0"/>
          </a:p>
          <a:p>
            <a:pPr algn="l" indent="0" marL="0">
              <a:lnSpc>
                <a:spcPts val="3694"/>
              </a:lnSpc>
              <a:buNone/>
            </a:pPr>
            <a:r>
              <a:rPr lang="en-US" sz="4560" spc="-182" kern="0" dirty="0">
                <a:solidFill>
                  <a:srgbClr val="DCDBCE">
                    <a:alpha val="99000"/>
                  </a:srgbClr>
                </a:solidFill>
                <a:latin typeface="Work Sans" pitchFamily="34" charset="0"/>
                <a:ea typeface="Work Sans" pitchFamily="34" charset="-122"/>
                <a:cs typeface="Work Sans" pitchFamily="34" charset="-120"/>
              </a:rPr>
              <a:t>LIKELIHOOD OF </a:t>
            </a:r>
            <a:endParaRPr lang="en-US" sz="4560" dirty="0"/>
          </a:p>
          <a:p>
            <a:pPr algn="l" indent="0" marL="0">
              <a:lnSpc>
                <a:spcPts val="3694"/>
              </a:lnSpc>
              <a:buNone/>
            </a:pPr>
            <a:r>
              <a:rPr lang="en-US" sz="4560" spc="-182" kern="0" dirty="0">
                <a:solidFill>
                  <a:srgbClr val="DCDBCE">
                    <a:alpha val="99000"/>
                  </a:srgbClr>
                </a:solidFill>
                <a:latin typeface="Work Sans" pitchFamily="34" charset="0"/>
                <a:ea typeface="Work Sans" pitchFamily="34" charset="-122"/>
                <a:cs typeface="Work Sans" pitchFamily="34" charset="-120"/>
              </a:rPr>
              <a:t>PLANE CRASHES</a:t>
            </a:r>
            <a:endParaRPr lang="en-US" sz="4560" dirty="0"/>
          </a:p>
        </p:txBody>
      </p:sp>
      <p:sp>
        <p:nvSpPr>
          <p:cNvPr id="3" name="Text 1"/>
          <p:cNvSpPr/>
          <p:nvPr/>
        </p:nvSpPr>
        <p:spPr>
          <a:xfrm>
            <a:off x="190500" y="4886325"/>
            <a:ext cx="881063"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DCDBCE">
                    <a:alpha val="99000"/>
                  </a:srgbClr>
                </a:solidFill>
                <a:latin typeface="Cutive Mono" pitchFamily="34" charset="0"/>
                <a:ea typeface="Cutive Mono" pitchFamily="34" charset="-122"/>
                <a:cs typeface="Cutive Mono" pitchFamily="34" charset="-120"/>
              </a:rPr>
              <a:t>INSIGHT TEAM</a:t>
            </a:r>
            <a:endParaRPr lang="en-US" sz="784" dirty="0"/>
          </a:p>
        </p:txBody>
      </p:sp>
      <p:sp>
        <p:nvSpPr>
          <p:cNvPr id="4" name="Text 2"/>
          <p:cNvSpPr/>
          <p:nvPr/>
        </p:nvSpPr>
        <p:spPr>
          <a:xfrm>
            <a:off x="8296275" y="4886325"/>
            <a:ext cx="657225" cy="114300"/>
          </a:xfrm>
          <a:prstGeom prst="rect">
            <a:avLst/>
          </a:prstGeom>
          <a:noFill/>
          <a:ln/>
        </p:spPr>
        <p:txBody>
          <a:bodyPr wrap="square" lIns="0" tIns="0" rIns="0" bIns="0" rtlCol="0" anchor="t"/>
          <a:lstStyle/>
          <a:p>
            <a:pPr algn="r" indent="0" marL="0">
              <a:lnSpc>
                <a:spcPts val="863"/>
              </a:lnSpc>
              <a:buNone/>
            </a:pPr>
            <a:r>
              <a:rPr lang="en-US" sz="784" spc="78" kern="0" dirty="0">
                <a:solidFill>
                  <a:srgbClr val="DCDBCE">
                    <a:alpha val="99000"/>
                  </a:srgbClr>
                </a:solidFill>
                <a:latin typeface="Cutive Mono" pitchFamily="34" charset="0"/>
                <a:ea typeface="Cutive Mono" pitchFamily="34" charset="-122"/>
                <a:cs typeface="Cutive Mono" pitchFamily="34" charset="-120"/>
              </a:rPr>
              <a:t>FALL 2025</a:t>
            </a:r>
            <a:endParaRPr lang="en-US" sz="784" dirty="0"/>
          </a:p>
        </p:txBody>
      </p:sp>
      <p:sp>
        <p:nvSpPr>
          <p:cNvPr id="5" name="Text 3"/>
          <p:cNvSpPr/>
          <p:nvPr/>
        </p:nvSpPr>
        <p:spPr>
          <a:xfrm>
            <a:off x="190500" y="142875"/>
            <a:ext cx="1690688"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DCDBCE">
                    <a:alpha val="99000"/>
                  </a:srgbClr>
                </a:solidFill>
                <a:latin typeface="Cutive Mono" pitchFamily="34" charset="0"/>
                <a:ea typeface="Cutive Mono" pitchFamily="34" charset="-122"/>
                <a:cs typeface="Cutive Mono" pitchFamily="34" charset="-120"/>
              </a:rPr>
              <a:t>BUSINESS ANALYTICS CLUB</a:t>
            </a:r>
            <a:endParaRPr lang="en-US" sz="784" dirty="0"/>
          </a:p>
        </p:txBody>
      </p:sp>
      <p:sp>
        <p:nvSpPr>
          <p:cNvPr id="6" name="Text 4"/>
          <p:cNvSpPr/>
          <p:nvPr/>
        </p:nvSpPr>
        <p:spPr>
          <a:xfrm>
            <a:off x="180975" y="-6886575"/>
            <a:ext cx="0" cy="133350"/>
          </a:xfrm>
          <a:prstGeom prst="rect">
            <a:avLst/>
          </a:prstGeom>
          <a:noFill/>
          <a:ln/>
        </p:spPr>
        <p:txBody>
          <a:bodyPr wrap="square" lIns="0" tIns="0" rIns="0" bIns="0" rtlCol="0" anchor="t"/>
          <a:lstStyle/>
          <a:p>
            <a:pPr indent="0" marL="0">
              <a:buNone/>
            </a:pPr>
            <a:endParaRPr lang="en-US" dirty="0"/>
          </a:p>
        </p:txBody>
      </p:sp>
      <p:pic>
        <p:nvPicPr>
          <p:cNvPr id="7" name="Image 0" descr="preencoded.png">    </p:cNvPr>
          <p:cNvPicPr>
            <a:picLocks noChangeAspect="1"/>
          </p:cNvPicPr>
          <p:nvPr/>
        </p:nvPicPr>
        <p:blipFill>
          <a:blip r:embed="rId1"/>
          <a:srcRect l="0" r="677" t="0" b="753"/>
          <a:stretch/>
        </p:blipFill>
        <p:spPr>
          <a:xfrm>
            <a:off x="2200275" y="-1743075"/>
            <a:ext cx="8715409" cy="78302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7801" t="0" b="0"/>
          <a:stretch/>
        </p:blipFill>
        <p:spPr>
          <a:xfrm>
            <a:off x="7286625" y="361950"/>
            <a:ext cx="1857375" cy="2014538"/>
          </a:xfrm>
          <a:prstGeom prst="rect">
            <a:avLst/>
          </a:prstGeom>
        </p:spPr>
      </p:pic>
      <p:sp>
        <p:nvSpPr>
          <p:cNvPr id="3" name="Text 0"/>
          <p:cNvSpPr/>
          <p:nvPr/>
        </p:nvSpPr>
        <p:spPr>
          <a:xfrm>
            <a:off x="3162300" y="1304925"/>
            <a:ext cx="971550" cy="133350"/>
          </a:xfrm>
          <a:prstGeom prst="rect">
            <a:avLst/>
          </a:prstGeom>
          <a:noFill/>
          <a:ln/>
        </p:spPr>
        <p:txBody>
          <a:bodyPr wrap="square" lIns="0" tIns="0" rIns="0" bIns="0" rtlCol="0" anchor="t"/>
          <a:lstStyle/>
          <a:p>
            <a:pPr algn="ctr" indent="0" marL="0">
              <a:lnSpc>
                <a:spcPts val="998"/>
              </a:lnSpc>
              <a:buNone/>
            </a:pPr>
            <a:r>
              <a:rPr lang="en-US" sz="713" dirty="0">
                <a:solidFill>
                  <a:srgbClr val="000000">
                    <a:alpha val="99000"/>
                  </a:srgbClr>
                </a:solidFill>
                <a:latin typeface="Work Sans" pitchFamily="34" charset="0"/>
                <a:ea typeface="Work Sans" pitchFamily="34" charset="-122"/>
                <a:cs typeface="Work Sans" pitchFamily="34" charset="-120"/>
              </a:rPr>
              <a:t>Shachi Mahajan</a:t>
            </a:r>
            <a:endParaRPr lang="en-US" sz="713" dirty="0"/>
          </a:p>
        </p:txBody>
      </p:sp>
      <p:sp>
        <p:nvSpPr>
          <p:cNvPr id="4" name="Text 1"/>
          <p:cNvSpPr/>
          <p:nvPr/>
        </p:nvSpPr>
        <p:spPr>
          <a:xfrm>
            <a:off x="4905375" y="1109663"/>
            <a:ext cx="971550" cy="133350"/>
          </a:xfrm>
          <a:prstGeom prst="rect">
            <a:avLst/>
          </a:prstGeom>
          <a:noFill/>
          <a:ln/>
        </p:spPr>
        <p:txBody>
          <a:bodyPr wrap="square" lIns="0" tIns="0" rIns="0" bIns="0" rtlCol="0" anchor="t"/>
          <a:lstStyle/>
          <a:p>
            <a:pPr algn="ctr" indent="0" marL="0">
              <a:lnSpc>
                <a:spcPts val="998"/>
              </a:lnSpc>
              <a:buNone/>
            </a:pPr>
            <a:r>
              <a:rPr lang="en-US" sz="713" dirty="0">
                <a:solidFill>
                  <a:srgbClr val="000000">
                    <a:alpha val="99000"/>
                  </a:srgbClr>
                </a:solidFill>
                <a:latin typeface="Work Sans" pitchFamily="34" charset="0"/>
                <a:ea typeface="Work Sans" pitchFamily="34" charset="-122"/>
                <a:cs typeface="Work Sans" pitchFamily="34" charset="-120"/>
              </a:rPr>
              <a:t>Luca Chiappetta</a:t>
            </a:r>
            <a:endParaRPr lang="en-US" sz="713" dirty="0"/>
          </a:p>
        </p:txBody>
      </p:sp>
      <p:sp>
        <p:nvSpPr>
          <p:cNvPr id="5" name="Text 2"/>
          <p:cNvSpPr/>
          <p:nvPr/>
        </p:nvSpPr>
        <p:spPr>
          <a:xfrm>
            <a:off x="7881937" y="476250"/>
            <a:ext cx="971550" cy="133350"/>
          </a:xfrm>
          <a:prstGeom prst="rect">
            <a:avLst/>
          </a:prstGeom>
          <a:noFill/>
          <a:ln/>
        </p:spPr>
        <p:txBody>
          <a:bodyPr wrap="square" lIns="0" tIns="0" rIns="0" bIns="0" rtlCol="0" anchor="t"/>
          <a:lstStyle/>
          <a:p>
            <a:pPr algn="ctr" indent="0" marL="0">
              <a:lnSpc>
                <a:spcPts val="998"/>
              </a:lnSpc>
              <a:buNone/>
            </a:pPr>
            <a:r>
              <a:rPr lang="en-US" sz="713" dirty="0">
                <a:solidFill>
                  <a:srgbClr val="000000">
                    <a:alpha val="99000"/>
                  </a:srgbClr>
                </a:solidFill>
                <a:latin typeface="Work Sans" pitchFamily="34" charset="0"/>
                <a:ea typeface="Work Sans" pitchFamily="34" charset="-122"/>
                <a:cs typeface="Work Sans" pitchFamily="34" charset="-120"/>
              </a:rPr>
              <a:t>Daniel Liang</a:t>
            </a:r>
            <a:endParaRPr lang="en-US" sz="713" dirty="0"/>
          </a:p>
        </p:txBody>
      </p:sp>
      <p:sp>
        <p:nvSpPr>
          <p:cNvPr id="6" name="Text 3"/>
          <p:cNvSpPr/>
          <p:nvPr/>
        </p:nvSpPr>
        <p:spPr>
          <a:xfrm>
            <a:off x="6543675" y="833438"/>
            <a:ext cx="971550" cy="133350"/>
          </a:xfrm>
          <a:prstGeom prst="rect">
            <a:avLst/>
          </a:prstGeom>
          <a:noFill/>
          <a:ln/>
        </p:spPr>
        <p:txBody>
          <a:bodyPr wrap="square" lIns="0" tIns="0" rIns="0" bIns="0" rtlCol="0" anchor="t"/>
          <a:lstStyle/>
          <a:p>
            <a:pPr algn="ctr" indent="0" marL="0">
              <a:lnSpc>
                <a:spcPts val="998"/>
              </a:lnSpc>
              <a:buNone/>
            </a:pPr>
            <a:r>
              <a:rPr lang="en-US" sz="713" dirty="0">
                <a:solidFill>
                  <a:srgbClr val="000000">
                    <a:alpha val="99000"/>
                  </a:srgbClr>
                </a:solidFill>
                <a:latin typeface="Work Sans" pitchFamily="34" charset="0"/>
                <a:ea typeface="Work Sans" pitchFamily="34" charset="-122"/>
                <a:cs typeface="Work Sans" pitchFamily="34" charset="-120"/>
              </a:rPr>
              <a:t>Prateek Nedungadi</a:t>
            </a:r>
            <a:endParaRPr lang="en-US" sz="713" dirty="0"/>
          </a:p>
        </p:txBody>
      </p:sp>
      <p:pic>
        <p:nvPicPr>
          <p:cNvPr id="7" name="Image 1" descr="preencoded.png">    </p:cNvPr>
          <p:cNvPicPr>
            <a:picLocks noChangeAspect="1"/>
          </p:cNvPicPr>
          <p:nvPr/>
        </p:nvPicPr>
        <p:blipFill>
          <a:blip r:embed="rId2"/>
          <a:srcRect l="0" r="0" t="0" b="0"/>
          <a:stretch/>
        </p:blipFill>
        <p:spPr>
          <a:xfrm>
            <a:off x="5762625" y="609600"/>
            <a:ext cx="2533650" cy="2233613"/>
          </a:xfrm>
          <a:prstGeom prst="rect">
            <a:avLst/>
          </a:prstGeom>
        </p:spPr>
      </p:pic>
      <p:pic>
        <p:nvPicPr>
          <p:cNvPr id="8" name="Image 2" descr="preencoded.png">    </p:cNvPr>
          <p:cNvPicPr>
            <a:picLocks noChangeAspect="1"/>
          </p:cNvPicPr>
          <p:nvPr/>
        </p:nvPicPr>
        <p:blipFill>
          <a:blip r:embed="rId3"/>
          <a:srcRect l="0" r="0" t="0" b="0"/>
          <a:stretch/>
        </p:blipFill>
        <p:spPr>
          <a:xfrm>
            <a:off x="4014788" y="776288"/>
            <a:ext cx="2538413" cy="3062288"/>
          </a:xfrm>
          <a:prstGeom prst="rect">
            <a:avLst/>
          </a:prstGeom>
        </p:spPr>
      </p:pic>
      <p:pic>
        <p:nvPicPr>
          <p:cNvPr id="9" name="Image 3" descr="preencoded.png">    </p:cNvPr>
          <p:cNvPicPr>
            <a:picLocks noChangeAspect="1"/>
          </p:cNvPicPr>
          <p:nvPr/>
        </p:nvPicPr>
        <p:blipFill>
          <a:blip r:embed="rId4"/>
          <a:srcRect l="0" r="0" t="0" b="0"/>
          <a:stretch/>
        </p:blipFill>
        <p:spPr>
          <a:xfrm>
            <a:off x="1624013" y="966788"/>
            <a:ext cx="3767138" cy="3886200"/>
          </a:xfrm>
          <a:prstGeom prst="rect">
            <a:avLst/>
          </a:prstGeom>
        </p:spPr>
      </p:pic>
      <p:pic>
        <p:nvPicPr>
          <p:cNvPr id="10" name="Image 4" descr="preencoded.png">    </p:cNvPr>
          <p:cNvPicPr>
            <a:picLocks noChangeAspect="1"/>
          </p:cNvPicPr>
          <p:nvPr/>
        </p:nvPicPr>
        <p:blipFill>
          <a:blip r:embed="rId5"/>
          <a:srcRect l="0" r="23222" t="0" b="12866"/>
          <a:stretch/>
        </p:blipFill>
        <p:spPr>
          <a:xfrm>
            <a:off x="-1057275" y="1176338"/>
            <a:ext cx="3495675" cy="3967163"/>
          </a:xfrm>
          <a:prstGeom prst="rect">
            <a:avLst/>
          </a:prstGeom>
        </p:spPr>
      </p:pic>
      <p:sp>
        <p:nvSpPr>
          <p:cNvPr id="11" name="Text 4"/>
          <p:cNvSpPr/>
          <p:nvPr/>
        </p:nvSpPr>
        <p:spPr>
          <a:xfrm>
            <a:off x="866775" y="1781175"/>
            <a:ext cx="971550" cy="133350"/>
          </a:xfrm>
          <a:prstGeom prst="rect">
            <a:avLst/>
          </a:prstGeom>
          <a:noFill/>
          <a:ln/>
        </p:spPr>
        <p:txBody>
          <a:bodyPr wrap="square" lIns="0" tIns="0" rIns="0" bIns="0" rtlCol="0" anchor="t"/>
          <a:lstStyle/>
          <a:p>
            <a:pPr algn="ctr" indent="0" marL="0">
              <a:lnSpc>
                <a:spcPts val="998"/>
              </a:lnSpc>
              <a:buNone/>
            </a:pPr>
            <a:r>
              <a:rPr lang="en-US" sz="713" dirty="0">
                <a:solidFill>
                  <a:srgbClr val="000000">
                    <a:alpha val="99000"/>
                  </a:srgbClr>
                </a:solidFill>
                <a:latin typeface="Work Sans" pitchFamily="34" charset="0"/>
                <a:ea typeface="Work Sans" pitchFamily="34" charset="-122"/>
                <a:cs typeface="Work Sans" pitchFamily="34" charset="-120"/>
              </a:rPr>
              <a:t>Kevin Dong</a:t>
            </a:r>
            <a:endParaRPr lang="en-US" sz="713" dirty="0"/>
          </a:p>
        </p:txBody>
      </p:sp>
      <p:sp>
        <p:nvSpPr>
          <p:cNvPr id="12" name="Text 5"/>
          <p:cNvSpPr/>
          <p:nvPr/>
        </p:nvSpPr>
        <p:spPr>
          <a:xfrm>
            <a:off x="190500" y="533400"/>
            <a:ext cx="4086225" cy="619125"/>
          </a:xfrm>
          <a:prstGeom prst="rect">
            <a:avLst/>
          </a:prstGeom>
          <a:noFill/>
          <a:ln/>
        </p:spPr>
        <p:txBody>
          <a:bodyPr wrap="square" lIns="0" tIns="0" rIns="0" bIns="0" rtlCol="0" anchor="t"/>
          <a:lstStyle/>
          <a:p>
            <a:pPr algn="l" indent="0" marL="0">
              <a:lnSpc>
                <a:spcPts val="2316"/>
              </a:lnSpc>
              <a:buNone/>
            </a:pPr>
            <a:r>
              <a:rPr lang="en-US" sz="1425" spc="-28" kern="0" dirty="0">
                <a:solidFill>
                  <a:srgbClr val="000000">
                    <a:alpha val="99000"/>
                  </a:srgbClr>
                </a:solidFill>
                <a:latin typeface="Work Sans" pitchFamily="34" charset="0"/>
                <a:ea typeface="Work Sans" pitchFamily="34" charset="-122"/>
                <a:cs typeface="Work Sans" pitchFamily="34" charset="-120"/>
              </a:rPr>
              <a:t>BROUGHT TO </a:t>
            </a:r>
            <a:endParaRPr lang="en-US" sz="1425" dirty="0"/>
          </a:p>
          <a:p>
            <a:pPr algn="l" indent="0" marL="0">
              <a:lnSpc>
                <a:spcPts val="2316"/>
              </a:lnSpc>
              <a:buNone/>
            </a:pPr>
            <a:r>
              <a:rPr lang="en-US" sz="1425" spc="-28" kern="0" dirty="0">
                <a:solidFill>
                  <a:srgbClr val="000000">
                    <a:alpha val="99000"/>
                  </a:srgbClr>
                </a:solidFill>
                <a:latin typeface="Work Sans" pitchFamily="34" charset="0"/>
                <a:ea typeface="Work Sans" pitchFamily="34" charset="-122"/>
                <a:cs typeface="Work Sans" pitchFamily="34" charset="-120"/>
              </a:rPr>
              <a:t>YOU BY</a:t>
            </a:r>
            <a:endParaRPr lang="en-US" sz="1425" dirty="0"/>
          </a:p>
        </p:txBody>
      </p:sp>
      <p:sp>
        <p:nvSpPr>
          <p:cNvPr id="13" name="Text 6"/>
          <p:cNvSpPr/>
          <p:nvPr/>
        </p:nvSpPr>
        <p:spPr>
          <a:xfrm>
            <a:off x="190500" y="142875"/>
            <a:ext cx="1690688"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BUSINESS ANALYTICS CLUB</a:t>
            </a:r>
            <a:endParaRPr lang="en-US" sz="784" dirty="0"/>
          </a:p>
        </p:txBody>
      </p:sp>
      <p:sp>
        <p:nvSpPr>
          <p:cNvPr id="14" name="Text 7"/>
          <p:cNvSpPr/>
          <p:nvPr/>
        </p:nvSpPr>
        <p:spPr>
          <a:xfrm>
            <a:off x="190500" y="4886325"/>
            <a:ext cx="881063"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INSIGHT TEAM</a:t>
            </a:r>
            <a:endParaRPr lang="en-US" sz="784" dirty="0"/>
          </a:p>
        </p:txBody>
      </p:sp>
      <p:sp>
        <p:nvSpPr>
          <p:cNvPr id="15" name="Text 8"/>
          <p:cNvSpPr/>
          <p:nvPr/>
        </p:nvSpPr>
        <p:spPr>
          <a:xfrm>
            <a:off x="8296275" y="4886325"/>
            <a:ext cx="657225" cy="114300"/>
          </a:xfrm>
          <a:prstGeom prst="rect">
            <a:avLst/>
          </a:prstGeom>
          <a:noFill/>
          <a:ln/>
        </p:spPr>
        <p:txBody>
          <a:bodyPr wrap="square" lIns="0" tIns="0" rIns="0" bIns="0" rtlCol="0" anchor="t"/>
          <a:lstStyle/>
          <a:p>
            <a:pPr algn="r"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FALL 2025</a:t>
            </a:r>
            <a:endParaRPr lang="en-US" sz="78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323975" y="4386263"/>
            <a:ext cx="971550" cy="133350"/>
          </a:xfrm>
          <a:prstGeom prst="rect">
            <a:avLst/>
          </a:prstGeom>
          <a:noFill/>
          <a:ln/>
        </p:spPr>
        <p:txBody>
          <a:bodyPr wrap="square" lIns="0" tIns="0" rIns="0" bIns="0" rtlCol="0" anchor="t"/>
          <a:lstStyle/>
          <a:p>
            <a:pPr algn="ctr" indent="0" marL="0">
              <a:lnSpc>
                <a:spcPts val="998"/>
              </a:lnSpc>
              <a:buNone/>
            </a:pPr>
            <a:r>
              <a:rPr lang="en-US" sz="713" dirty="0">
                <a:solidFill>
                  <a:srgbClr val="000000">
                    <a:alpha val="99000"/>
                  </a:srgbClr>
                </a:solidFill>
                <a:latin typeface="Work Sans" pitchFamily="34" charset="0"/>
                <a:ea typeface="Work Sans" pitchFamily="34" charset="-122"/>
                <a:cs typeface="Work Sans" pitchFamily="34" charset="-120"/>
              </a:rPr>
              <a:t>Shachi Mahajan</a:t>
            </a:r>
            <a:endParaRPr lang="en-US" sz="713" dirty="0"/>
          </a:p>
        </p:txBody>
      </p:sp>
      <p:sp>
        <p:nvSpPr>
          <p:cNvPr id="3" name="Text 1"/>
          <p:cNvSpPr/>
          <p:nvPr/>
        </p:nvSpPr>
        <p:spPr>
          <a:xfrm>
            <a:off x="2647950" y="4386263"/>
            <a:ext cx="971550" cy="133350"/>
          </a:xfrm>
          <a:prstGeom prst="rect">
            <a:avLst/>
          </a:prstGeom>
          <a:noFill/>
          <a:ln/>
        </p:spPr>
        <p:txBody>
          <a:bodyPr wrap="square" lIns="0" tIns="0" rIns="0" bIns="0" rtlCol="0" anchor="t"/>
          <a:lstStyle/>
          <a:p>
            <a:pPr algn="ctr" indent="0" marL="0">
              <a:lnSpc>
                <a:spcPts val="998"/>
              </a:lnSpc>
              <a:buNone/>
            </a:pPr>
            <a:r>
              <a:rPr lang="en-US" sz="713" dirty="0">
                <a:solidFill>
                  <a:srgbClr val="000000">
                    <a:alpha val="99000"/>
                  </a:srgbClr>
                </a:solidFill>
                <a:latin typeface="Work Sans" pitchFamily="34" charset="0"/>
                <a:ea typeface="Work Sans" pitchFamily="34" charset="-122"/>
                <a:cs typeface="Work Sans" pitchFamily="34" charset="-120"/>
              </a:rPr>
              <a:t>Luca Chiappetta</a:t>
            </a:r>
            <a:endParaRPr lang="en-US" sz="713" dirty="0"/>
          </a:p>
        </p:txBody>
      </p:sp>
      <p:sp>
        <p:nvSpPr>
          <p:cNvPr id="4" name="Text 2"/>
          <p:cNvSpPr/>
          <p:nvPr/>
        </p:nvSpPr>
        <p:spPr>
          <a:xfrm>
            <a:off x="3971925" y="4386263"/>
            <a:ext cx="971550" cy="133350"/>
          </a:xfrm>
          <a:prstGeom prst="rect">
            <a:avLst/>
          </a:prstGeom>
          <a:noFill/>
          <a:ln/>
        </p:spPr>
        <p:txBody>
          <a:bodyPr wrap="square" lIns="0" tIns="0" rIns="0" bIns="0" rtlCol="0" anchor="t"/>
          <a:lstStyle/>
          <a:p>
            <a:pPr algn="ctr" indent="0" marL="0">
              <a:lnSpc>
                <a:spcPts val="998"/>
              </a:lnSpc>
              <a:buNone/>
            </a:pPr>
            <a:r>
              <a:rPr lang="en-US" sz="713" dirty="0">
                <a:solidFill>
                  <a:srgbClr val="000000">
                    <a:alpha val="99000"/>
                  </a:srgbClr>
                </a:solidFill>
                <a:latin typeface="Work Sans" pitchFamily="34" charset="0"/>
                <a:ea typeface="Work Sans" pitchFamily="34" charset="-122"/>
                <a:cs typeface="Work Sans" pitchFamily="34" charset="-120"/>
              </a:rPr>
              <a:t>Daniel Liang</a:t>
            </a:r>
            <a:endParaRPr lang="en-US" sz="713" dirty="0"/>
          </a:p>
        </p:txBody>
      </p:sp>
      <p:sp>
        <p:nvSpPr>
          <p:cNvPr id="5" name="Text 3"/>
          <p:cNvSpPr/>
          <p:nvPr/>
        </p:nvSpPr>
        <p:spPr>
          <a:xfrm>
            <a:off x="5295900" y="4386263"/>
            <a:ext cx="971550" cy="133350"/>
          </a:xfrm>
          <a:prstGeom prst="rect">
            <a:avLst/>
          </a:prstGeom>
          <a:noFill/>
          <a:ln/>
        </p:spPr>
        <p:txBody>
          <a:bodyPr wrap="square" lIns="0" tIns="0" rIns="0" bIns="0" rtlCol="0" anchor="t"/>
          <a:lstStyle/>
          <a:p>
            <a:pPr algn="ctr" indent="0" marL="0">
              <a:lnSpc>
                <a:spcPts val="998"/>
              </a:lnSpc>
              <a:buNone/>
            </a:pPr>
            <a:r>
              <a:rPr lang="en-US" sz="713" dirty="0">
                <a:solidFill>
                  <a:srgbClr val="000000">
                    <a:alpha val="99000"/>
                  </a:srgbClr>
                </a:solidFill>
                <a:latin typeface="Work Sans" pitchFamily="34" charset="0"/>
                <a:ea typeface="Work Sans" pitchFamily="34" charset="-122"/>
                <a:cs typeface="Work Sans" pitchFamily="34" charset="-120"/>
              </a:rPr>
              <a:t>Prateek Nedungadi</a:t>
            </a:r>
            <a:endParaRPr lang="en-US" sz="713" dirty="0"/>
          </a:p>
        </p:txBody>
      </p:sp>
      <p:sp>
        <p:nvSpPr>
          <p:cNvPr id="6" name="Text 4"/>
          <p:cNvSpPr/>
          <p:nvPr/>
        </p:nvSpPr>
        <p:spPr>
          <a:xfrm>
            <a:off x="0" y="4386263"/>
            <a:ext cx="971550" cy="133350"/>
          </a:xfrm>
          <a:prstGeom prst="rect">
            <a:avLst/>
          </a:prstGeom>
          <a:noFill/>
          <a:ln/>
        </p:spPr>
        <p:txBody>
          <a:bodyPr wrap="square" lIns="0" tIns="0" rIns="0" bIns="0" rtlCol="0" anchor="t"/>
          <a:lstStyle/>
          <a:p>
            <a:pPr algn="ctr" indent="0" marL="0">
              <a:lnSpc>
                <a:spcPts val="998"/>
              </a:lnSpc>
              <a:buNone/>
            </a:pPr>
            <a:r>
              <a:rPr lang="en-US" sz="713" dirty="0">
                <a:solidFill>
                  <a:srgbClr val="000000">
                    <a:alpha val="99000"/>
                  </a:srgbClr>
                </a:solidFill>
                <a:latin typeface="Work Sans" pitchFamily="34" charset="0"/>
                <a:ea typeface="Work Sans" pitchFamily="34" charset="-122"/>
                <a:cs typeface="Work Sans" pitchFamily="34" charset="-120"/>
              </a:rPr>
              <a:t>Kevin Dong</a:t>
            </a:r>
            <a:endParaRPr lang="en-US" sz="713" dirty="0"/>
          </a:p>
        </p:txBody>
      </p:sp>
      <p:pic>
        <p:nvPicPr>
          <p:cNvPr id="7" name="Image 0" descr="preencoded.png">    </p:cNvPr>
          <p:cNvPicPr>
            <a:picLocks noChangeAspect="1"/>
          </p:cNvPicPr>
          <p:nvPr/>
        </p:nvPicPr>
        <p:blipFill>
          <a:blip r:embed="rId1"/>
          <a:srcRect l="0" r="0" t="0" b="0"/>
          <a:stretch/>
        </p:blipFill>
        <p:spPr>
          <a:xfrm>
            <a:off x="4705350" y="2133600"/>
            <a:ext cx="1685925" cy="1676400"/>
          </a:xfrm>
          <a:prstGeom prst="rect">
            <a:avLst/>
          </a:prstGeom>
        </p:spPr>
      </p:pic>
      <p:sp>
        <p:nvSpPr>
          <p:cNvPr id="8" name="Text 5"/>
          <p:cNvSpPr/>
          <p:nvPr/>
        </p:nvSpPr>
        <p:spPr>
          <a:xfrm>
            <a:off x="190500" y="533400"/>
            <a:ext cx="4086225" cy="619125"/>
          </a:xfrm>
          <a:prstGeom prst="rect">
            <a:avLst/>
          </a:prstGeom>
          <a:noFill/>
          <a:ln/>
        </p:spPr>
        <p:txBody>
          <a:bodyPr wrap="square" lIns="0" tIns="0" rIns="0" bIns="0" rtlCol="0" anchor="t"/>
          <a:lstStyle/>
          <a:p>
            <a:pPr algn="l" indent="0" marL="0">
              <a:lnSpc>
                <a:spcPts val="2316"/>
              </a:lnSpc>
              <a:buNone/>
            </a:pPr>
            <a:r>
              <a:rPr lang="en-US" sz="1425" spc="-28" kern="0" dirty="0">
                <a:solidFill>
                  <a:srgbClr val="000000">
                    <a:alpha val="99000"/>
                  </a:srgbClr>
                </a:solidFill>
                <a:latin typeface="Work Sans" pitchFamily="34" charset="0"/>
                <a:ea typeface="Work Sans" pitchFamily="34" charset="-122"/>
                <a:cs typeface="Work Sans" pitchFamily="34" charset="-120"/>
              </a:rPr>
              <a:t>BROUGHT TO </a:t>
            </a:r>
            <a:endParaRPr lang="en-US" sz="1425" dirty="0"/>
          </a:p>
          <a:p>
            <a:pPr algn="l" indent="0" marL="0">
              <a:lnSpc>
                <a:spcPts val="2316"/>
              </a:lnSpc>
              <a:buNone/>
            </a:pPr>
            <a:r>
              <a:rPr lang="en-US" sz="1425" spc="-28" kern="0" dirty="0">
                <a:solidFill>
                  <a:srgbClr val="000000">
                    <a:alpha val="99000"/>
                  </a:srgbClr>
                </a:solidFill>
                <a:latin typeface="Work Sans" pitchFamily="34" charset="0"/>
                <a:ea typeface="Work Sans" pitchFamily="34" charset="-122"/>
                <a:cs typeface="Work Sans" pitchFamily="34" charset="-120"/>
              </a:rPr>
              <a:t>YOU BY</a:t>
            </a:r>
            <a:endParaRPr lang="en-US" sz="1425" dirty="0"/>
          </a:p>
        </p:txBody>
      </p:sp>
      <p:sp>
        <p:nvSpPr>
          <p:cNvPr id="9" name="Text 6"/>
          <p:cNvSpPr/>
          <p:nvPr/>
        </p:nvSpPr>
        <p:spPr>
          <a:xfrm>
            <a:off x="190500" y="4886325"/>
            <a:ext cx="881063"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INSIGHT TEAM</a:t>
            </a:r>
            <a:endParaRPr lang="en-US" sz="784" dirty="0"/>
          </a:p>
        </p:txBody>
      </p:sp>
      <p:sp>
        <p:nvSpPr>
          <p:cNvPr id="10" name="Text 7"/>
          <p:cNvSpPr/>
          <p:nvPr/>
        </p:nvSpPr>
        <p:spPr>
          <a:xfrm>
            <a:off x="8296275" y="4886325"/>
            <a:ext cx="657225" cy="114300"/>
          </a:xfrm>
          <a:prstGeom prst="rect">
            <a:avLst/>
          </a:prstGeom>
          <a:noFill/>
          <a:ln/>
        </p:spPr>
        <p:txBody>
          <a:bodyPr wrap="square" lIns="0" tIns="0" rIns="0" bIns="0" rtlCol="0" anchor="t"/>
          <a:lstStyle/>
          <a:p>
            <a:pPr algn="r"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FALL 2025</a:t>
            </a:r>
            <a:endParaRPr lang="en-US" sz="784" dirty="0"/>
          </a:p>
        </p:txBody>
      </p:sp>
      <p:sp>
        <p:nvSpPr>
          <p:cNvPr id="11" name="Text 8"/>
          <p:cNvSpPr/>
          <p:nvPr/>
        </p:nvSpPr>
        <p:spPr>
          <a:xfrm>
            <a:off x="190500" y="142875"/>
            <a:ext cx="1690688"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BUSINESS ANALYTICS CLUB</a:t>
            </a:r>
            <a:endParaRPr lang="en-US" sz="784" dirty="0"/>
          </a:p>
        </p:txBody>
      </p:sp>
      <p:pic>
        <p:nvPicPr>
          <p:cNvPr id="12" name="Image 1" descr="preencoded.png">    </p:cNvPr>
          <p:cNvPicPr>
            <a:picLocks noChangeAspect="1"/>
          </p:cNvPicPr>
          <p:nvPr/>
        </p:nvPicPr>
        <p:blipFill>
          <a:blip r:embed="rId2"/>
          <a:srcRect l="0" r="0" t="0" b="0"/>
          <a:stretch/>
        </p:blipFill>
        <p:spPr>
          <a:xfrm>
            <a:off x="1166813" y="1833563"/>
            <a:ext cx="1481138" cy="1471613"/>
          </a:xfrm>
          <a:prstGeom prst="rect">
            <a:avLst/>
          </a:prstGeom>
        </p:spPr>
      </p:pic>
      <p:pic>
        <p:nvPicPr>
          <p:cNvPr id="13" name="Image 2" descr="preencoded.png">    </p:cNvPr>
          <p:cNvPicPr>
            <a:picLocks noChangeAspect="1"/>
          </p:cNvPicPr>
          <p:nvPr/>
        </p:nvPicPr>
        <p:blipFill>
          <a:blip r:embed="rId3"/>
          <a:srcRect l="0" r="0" t="0" b="0"/>
          <a:stretch/>
        </p:blipFill>
        <p:spPr>
          <a:xfrm>
            <a:off x="2647950" y="2571750"/>
            <a:ext cx="1266825" cy="1257300"/>
          </a:xfrm>
          <a:prstGeom prst="rect">
            <a:avLst/>
          </a:prstGeom>
        </p:spPr>
      </p:pic>
      <p:pic>
        <p:nvPicPr>
          <p:cNvPr id="14" name="Image 3" descr="preencoded.png">    </p:cNvPr>
          <p:cNvPicPr>
            <a:picLocks noChangeAspect="1"/>
          </p:cNvPicPr>
          <p:nvPr/>
        </p:nvPicPr>
        <p:blipFill>
          <a:blip r:embed="rId4"/>
          <a:srcRect l="0" r="0" t="0" b="0"/>
          <a:stretch/>
        </p:blipFill>
        <p:spPr>
          <a:xfrm>
            <a:off x="7172325" y="1433513"/>
            <a:ext cx="1547813" cy="1538288"/>
          </a:xfrm>
          <a:prstGeom prst="rect">
            <a:avLst/>
          </a:prstGeom>
        </p:spPr>
      </p:pic>
      <p:pic>
        <p:nvPicPr>
          <p:cNvPr id="15" name="Image 4" descr="preencoded.png">    </p:cNvPr>
          <p:cNvPicPr>
            <a:picLocks noChangeAspect="1"/>
          </p:cNvPicPr>
          <p:nvPr/>
        </p:nvPicPr>
        <p:blipFill>
          <a:blip r:embed="rId5"/>
          <a:srcRect l="0" r="0" t="0" b="0"/>
          <a:stretch/>
        </p:blipFill>
        <p:spPr>
          <a:xfrm>
            <a:off x="3574256" y="807244"/>
            <a:ext cx="1571625" cy="15621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90500" y="528638"/>
            <a:ext cx="2990850" cy="609600"/>
          </a:xfrm>
          <a:prstGeom prst="rect">
            <a:avLst/>
          </a:prstGeom>
          <a:noFill/>
          <a:ln/>
        </p:spPr>
        <p:txBody>
          <a:bodyPr wrap="square" lIns="0" tIns="0" rIns="0" bIns="0" rtlCol="0" anchor="t"/>
          <a:lstStyle/>
          <a:p>
            <a:pPr algn="l" indent="0" marL="0">
              <a:lnSpc>
                <a:spcPts val="2280"/>
              </a:lnSpc>
              <a:buNone/>
            </a:pPr>
            <a:r>
              <a:rPr lang="en-US" sz="2316" spc="-46" kern="0" dirty="0">
                <a:solidFill>
                  <a:srgbClr val="000000">
                    <a:alpha val="99000"/>
                  </a:srgbClr>
                </a:solidFill>
                <a:latin typeface="Work Sans" pitchFamily="34" charset="0"/>
                <a:ea typeface="Work Sans" pitchFamily="34" charset="-122"/>
                <a:cs typeface="Work Sans" pitchFamily="34" charset="-120"/>
              </a:rPr>
              <a:t>STARTING </a:t>
            </a:r>
            <a:endParaRPr lang="en-US" sz="2316" dirty="0"/>
          </a:p>
          <a:p>
            <a:pPr algn="l" indent="0" marL="0">
              <a:lnSpc>
                <a:spcPts val="2280"/>
              </a:lnSpc>
              <a:buNone/>
            </a:pPr>
            <a:r>
              <a:rPr lang="en-US" sz="2316" spc="-46" kern="0" dirty="0">
                <a:solidFill>
                  <a:srgbClr val="000000">
                    <a:alpha val="99000"/>
                  </a:srgbClr>
                </a:solidFill>
                <a:latin typeface="Work Sans" pitchFamily="34" charset="0"/>
                <a:ea typeface="Work Sans" pitchFamily="34" charset="-122"/>
                <a:cs typeface="Work Sans" pitchFamily="34" charset="-120"/>
              </a:rPr>
              <a:t>QUESTION</a:t>
            </a:r>
            <a:endParaRPr lang="en-US" sz="2316" dirty="0"/>
          </a:p>
        </p:txBody>
      </p:sp>
      <p:sp>
        <p:nvSpPr>
          <p:cNvPr id="3" name="Text 1"/>
          <p:cNvSpPr/>
          <p:nvPr/>
        </p:nvSpPr>
        <p:spPr>
          <a:xfrm>
            <a:off x="190500" y="4886325"/>
            <a:ext cx="881063"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INSIGHT TEAM</a:t>
            </a:r>
            <a:endParaRPr lang="en-US" sz="784" dirty="0"/>
          </a:p>
        </p:txBody>
      </p:sp>
      <p:sp>
        <p:nvSpPr>
          <p:cNvPr id="4" name="Text 2"/>
          <p:cNvSpPr/>
          <p:nvPr/>
        </p:nvSpPr>
        <p:spPr>
          <a:xfrm>
            <a:off x="8296275" y="4886325"/>
            <a:ext cx="657225" cy="114300"/>
          </a:xfrm>
          <a:prstGeom prst="rect">
            <a:avLst/>
          </a:prstGeom>
          <a:noFill/>
          <a:ln/>
        </p:spPr>
        <p:txBody>
          <a:bodyPr wrap="square" lIns="0" tIns="0" rIns="0" bIns="0" rtlCol="0" anchor="t"/>
          <a:lstStyle/>
          <a:p>
            <a:pPr algn="r"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FALL 2025</a:t>
            </a:r>
            <a:endParaRPr lang="en-US" sz="784" dirty="0"/>
          </a:p>
        </p:txBody>
      </p:sp>
      <p:pic>
        <p:nvPicPr>
          <p:cNvPr id="5" name="Image 0" descr="preencoded.png">    </p:cNvPr>
          <p:cNvPicPr>
            <a:picLocks noChangeAspect="1"/>
          </p:cNvPicPr>
          <p:nvPr/>
        </p:nvPicPr>
        <p:blipFill>
          <a:blip r:embed="rId1"/>
          <a:srcRect l="0" r="0" t="0" b="8000"/>
          <a:stretch/>
        </p:blipFill>
        <p:spPr>
          <a:xfrm>
            <a:off x="8110537" y="4705350"/>
            <a:ext cx="476250" cy="438150"/>
          </a:xfrm>
          <a:prstGeom prst="rect">
            <a:avLst/>
          </a:prstGeom>
        </p:spPr>
      </p:pic>
      <p:sp>
        <p:nvSpPr>
          <p:cNvPr id="6" name="Text 3"/>
          <p:cNvSpPr/>
          <p:nvPr/>
        </p:nvSpPr>
        <p:spPr>
          <a:xfrm>
            <a:off x="190500" y="142875"/>
            <a:ext cx="1690688"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BUSINESS ANALYTICS CLUB</a:t>
            </a:r>
            <a:endParaRPr lang="en-US" sz="784" dirty="0"/>
          </a:p>
        </p:txBody>
      </p:sp>
      <p:sp>
        <p:nvSpPr>
          <p:cNvPr id="7" name="Text 4"/>
          <p:cNvSpPr/>
          <p:nvPr/>
        </p:nvSpPr>
        <p:spPr>
          <a:xfrm>
            <a:off x="342900" y="1562100"/>
            <a:ext cx="4662488" cy="2371725"/>
          </a:xfrm>
          <a:prstGeom prst="roundRect">
            <a:avLst>
              <a:gd name="adj" fmla="val 5012"/>
            </a:avLst>
          </a:prstGeom>
          <a:solidFill>
            <a:srgbClr val="231F20"/>
          </a:solidFill>
          <a:ln/>
        </p:spPr>
        <p:txBody>
          <a:bodyPr wrap="square" rtlCol="0" anchor="ctr"/>
          <a:lstStyle/>
          <a:p>
            <a:pPr indent="0" marL="0">
              <a:buNone/>
            </a:pPr>
            <a:endParaRPr lang="en-US" dirty="0"/>
          </a:p>
        </p:txBody>
      </p:sp>
      <p:sp>
        <p:nvSpPr>
          <p:cNvPr id="8" name="Text 5"/>
          <p:cNvSpPr/>
          <p:nvPr/>
        </p:nvSpPr>
        <p:spPr>
          <a:xfrm>
            <a:off x="3771900" y="1738313"/>
            <a:ext cx="5181600" cy="2014538"/>
          </a:xfrm>
          <a:prstGeom prst="roundRect">
            <a:avLst>
              <a:gd name="adj" fmla="val 5901"/>
            </a:avLst>
          </a:prstGeom>
          <a:solidFill>
            <a:srgbClr val="DCDBCE"/>
          </a:solidFill>
          <a:ln/>
        </p:spPr>
        <p:txBody>
          <a:bodyPr wrap="square" rtlCol="0" anchor="ctr"/>
          <a:lstStyle/>
          <a:p>
            <a:pPr indent="0" marL="0">
              <a:buNone/>
            </a:pPr>
            <a:endParaRPr lang="en-US" dirty="0"/>
          </a:p>
        </p:txBody>
      </p:sp>
      <p:pic>
        <p:nvPicPr>
          <p:cNvPr id="9" name="Image 1" descr="preencoded.png">    </p:cNvPr>
          <p:cNvPicPr>
            <a:picLocks noChangeAspect="1"/>
          </p:cNvPicPr>
          <p:nvPr/>
        </p:nvPicPr>
        <p:blipFill>
          <a:blip r:embed="rId2"/>
          <a:srcRect l="0" r="0" t="0" b="0"/>
          <a:stretch/>
        </p:blipFill>
        <p:spPr>
          <a:xfrm>
            <a:off x="409575" y="976312"/>
            <a:ext cx="3190875" cy="3190875"/>
          </a:xfrm>
          <a:prstGeom prst="rect">
            <a:avLst/>
          </a:prstGeom>
        </p:spPr>
      </p:pic>
      <p:sp>
        <p:nvSpPr>
          <p:cNvPr id="10" name="Text 6"/>
          <p:cNvSpPr/>
          <p:nvPr/>
        </p:nvSpPr>
        <p:spPr>
          <a:xfrm>
            <a:off x="3881438" y="1819275"/>
            <a:ext cx="5148263" cy="1857375"/>
          </a:xfrm>
          <a:prstGeom prst="rect">
            <a:avLst/>
          </a:prstGeom>
          <a:noFill/>
          <a:ln/>
        </p:spPr>
        <p:txBody>
          <a:bodyPr wrap="square" lIns="0" tIns="0" rIns="0" bIns="0" rtlCol="0" anchor="ctr"/>
          <a:lstStyle/>
          <a:p>
            <a:pPr algn="l" indent="0" marL="0">
              <a:lnSpc>
                <a:spcPts val="2316"/>
              </a:lnSpc>
              <a:buNone/>
            </a:pPr>
            <a:r>
              <a:rPr lang="en-US" sz="1425" spc="-28" kern="0" dirty="0">
                <a:solidFill>
                  <a:srgbClr val="000000">
                    <a:alpha val="99000"/>
                  </a:srgbClr>
                </a:solidFill>
                <a:latin typeface="Work Sans" pitchFamily="34" charset="0"/>
                <a:ea typeface="Work Sans" pitchFamily="34" charset="-122"/>
                <a:cs typeface="Work Sans" pitchFamily="34" charset="-120"/>
              </a:rPr>
              <a:t>THIS MODEL WOULD AIM TO PREDICT WHICH AIRPLANES ARE MORE LIKELY TO CRASH AND WHAT CONDITIONS MAKE AIRPLANE CRASHES PROBABLE. THIS WOULD ALLOW AIRLINES AND AIRPORTS TO DETERMINE WHERE THE PAIN POINTS ARE AND WORK ON POLICY TO DECREASE AIRPLANE CRASHES. </a:t>
            </a:r>
            <a:endParaRPr lang="en-US" sz="14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376363" y="1843088"/>
            <a:ext cx="2314575" cy="309563"/>
          </a:xfrm>
          <a:prstGeom prst="rect">
            <a:avLst/>
          </a:prstGeom>
          <a:noFill/>
          <a:ln/>
        </p:spPr>
        <p:txBody>
          <a:bodyPr wrap="square" lIns="0" tIns="0" rIns="0" bIns="0" rtlCol="0" anchor="t"/>
          <a:lstStyle/>
          <a:p>
            <a:pPr algn="l" indent="0" marL="0">
              <a:lnSpc>
                <a:spcPts val="2316"/>
              </a:lnSpc>
              <a:buNone/>
            </a:pPr>
            <a:r>
              <a:rPr lang="en-US" sz="1425" spc="-28" kern="0" dirty="0">
                <a:solidFill>
                  <a:srgbClr val="000000">
                    <a:alpha val="99000"/>
                  </a:srgbClr>
                </a:solidFill>
                <a:latin typeface="Work Sans" pitchFamily="34" charset="0"/>
                <a:ea typeface="Work Sans" pitchFamily="34" charset="-122"/>
                <a:cs typeface="Work Sans" pitchFamily="34" charset="-120"/>
              </a:rPr>
              <a:t>DATA SET ONE</a:t>
            </a:r>
            <a:endParaRPr lang="en-US" sz="1425" dirty="0"/>
          </a:p>
        </p:txBody>
      </p:sp>
      <p:sp>
        <p:nvSpPr>
          <p:cNvPr id="3" name="Text 1"/>
          <p:cNvSpPr/>
          <p:nvPr/>
        </p:nvSpPr>
        <p:spPr>
          <a:xfrm>
            <a:off x="1376363" y="3971925"/>
            <a:ext cx="2314575" cy="309563"/>
          </a:xfrm>
          <a:prstGeom prst="rect">
            <a:avLst/>
          </a:prstGeom>
          <a:noFill/>
          <a:ln/>
        </p:spPr>
        <p:txBody>
          <a:bodyPr wrap="square" lIns="0" tIns="0" rIns="0" bIns="0" rtlCol="0" anchor="ctr"/>
          <a:lstStyle/>
          <a:p>
            <a:pPr algn="l" indent="0" marL="0">
              <a:lnSpc>
                <a:spcPts val="2316"/>
              </a:lnSpc>
              <a:buNone/>
            </a:pPr>
            <a:r>
              <a:rPr lang="en-US" sz="1425" spc="-28" kern="0" dirty="0">
                <a:solidFill>
                  <a:srgbClr val="000000">
                    <a:alpha val="99000"/>
                  </a:srgbClr>
                </a:solidFill>
                <a:latin typeface="Work Sans" pitchFamily="34" charset="0"/>
                <a:ea typeface="Work Sans" pitchFamily="34" charset="-122"/>
                <a:cs typeface="Work Sans" pitchFamily="34" charset="-120"/>
              </a:rPr>
              <a:t>DATA SET THREE</a:t>
            </a:r>
            <a:endParaRPr lang="en-US" sz="1425" dirty="0"/>
          </a:p>
        </p:txBody>
      </p:sp>
      <p:pic>
        <p:nvPicPr>
          <p:cNvPr id="4" name="Image 0" descr="preencoded.png">    </p:cNvPr>
          <p:cNvPicPr>
            <a:picLocks noChangeAspect="1"/>
          </p:cNvPicPr>
          <p:nvPr/>
        </p:nvPicPr>
        <p:blipFill>
          <a:blip r:embed="rId1"/>
          <a:srcRect l="0" r="0" t="0" b="0"/>
          <a:stretch/>
        </p:blipFill>
        <p:spPr>
          <a:xfrm>
            <a:off x="195263" y="1652588"/>
            <a:ext cx="695325" cy="690563"/>
          </a:xfrm>
          <a:prstGeom prst="rect">
            <a:avLst/>
          </a:prstGeom>
        </p:spPr>
      </p:pic>
      <p:pic>
        <p:nvPicPr>
          <p:cNvPr id="5" name="Image 1" descr="preencoded.png">    </p:cNvPr>
          <p:cNvPicPr>
            <a:picLocks noChangeAspect="1"/>
          </p:cNvPicPr>
          <p:nvPr/>
        </p:nvPicPr>
        <p:blipFill>
          <a:blip r:embed="rId2"/>
          <a:srcRect l="0" r="0" t="0" b="0"/>
          <a:stretch/>
        </p:blipFill>
        <p:spPr>
          <a:xfrm>
            <a:off x="195263" y="2695575"/>
            <a:ext cx="695325" cy="681038"/>
          </a:xfrm>
          <a:prstGeom prst="rect">
            <a:avLst/>
          </a:prstGeom>
        </p:spPr>
      </p:pic>
      <p:pic>
        <p:nvPicPr>
          <p:cNvPr id="6" name="Image 2" descr="preencoded.png">    </p:cNvPr>
          <p:cNvPicPr>
            <a:picLocks noChangeAspect="1"/>
          </p:cNvPicPr>
          <p:nvPr/>
        </p:nvPicPr>
        <p:blipFill>
          <a:blip r:embed="rId3"/>
          <a:srcRect l="0" r="0" t="0" b="0"/>
          <a:stretch/>
        </p:blipFill>
        <p:spPr>
          <a:xfrm>
            <a:off x="195263" y="3781425"/>
            <a:ext cx="695325" cy="685800"/>
          </a:xfrm>
          <a:prstGeom prst="rect">
            <a:avLst/>
          </a:prstGeom>
        </p:spPr>
      </p:pic>
      <p:sp>
        <p:nvSpPr>
          <p:cNvPr id="7" name="Shape 2"/>
          <p:cNvSpPr/>
          <p:nvPr/>
        </p:nvSpPr>
        <p:spPr>
          <a:xfrm>
            <a:off x="0" y="2543175"/>
            <a:ext cx="9144000" cy="0"/>
          </a:xfrm>
          <a:prstGeom prst="line">
            <a:avLst/>
          </a:prstGeom>
          <a:noFill/>
          <a:ln w="4524">
            <a:solidFill>
              <a:srgbClr val="000000"/>
            </a:solidFill>
            <a:prstDash val="solid"/>
          </a:ln>
        </p:spPr>
      </p:sp>
      <p:sp>
        <p:nvSpPr>
          <p:cNvPr id="8" name="Shape 3"/>
          <p:cNvSpPr/>
          <p:nvPr/>
        </p:nvSpPr>
        <p:spPr>
          <a:xfrm>
            <a:off x="0" y="3600450"/>
            <a:ext cx="9144000" cy="0"/>
          </a:xfrm>
          <a:prstGeom prst="line">
            <a:avLst/>
          </a:prstGeom>
          <a:noFill/>
          <a:ln w="4524">
            <a:solidFill>
              <a:srgbClr val="000000"/>
            </a:solidFill>
            <a:prstDash val="solid"/>
          </a:ln>
        </p:spPr>
      </p:sp>
      <p:sp>
        <p:nvSpPr>
          <p:cNvPr id="9" name="Shape 4"/>
          <p:cNvSpPr/>
          <p:nvPr/>
        </p:nvSpPr>
        <p:spPr>
          <a:xfrm>
            <a:off x="0" y="4657725"/>
            <a:ext cx="9144000" cy="0"/>
          </a:xfrm>
          <a:prstGeom prst="line">
            <a:avLst/>
          </a:prstGeom>
          <a:noFill/>
          <a:ln w="4524">
            <a:solidFill>
              <a:srgbClr val="000000"/>
            </a:solidFill>
            <a:prstDash val="solid"/>
          </a:ln>
        </p:spPr>
      </p:sp>
      <p:sp>
        <p:nvSpPr>
          <p:cNvPr id="10" name="Shape 5"/>
          <p:cNvSpPr/>
          <p:nvPr/>
        </p:nvSpPr>
        <p:spPr>
          <a:xfrm>
            <a:off x="0" y="1485900"/>
            <a:ext cx="9144000" cy="0"/>
          </a:xfrm>
          <a:prstGeom prst="line">
            <a:avLst/>
          </a:prstGeom>
          <a:noFill/>
          <a:ln w="4524">
            <a:solidFill>
              <a:srgbClr val="000000"/>
            </a:solidFill>
            <a:prstDash val="solid"/>
          </a:ln>
        </p:spPr>
      </p:sp>
      <p:sp>
        <p:nvSpPr>
          <p:cNvPr id="11" name="Text 6"/>
          <p:cNvSpPr/>
          <p:nvPr/>
        </p:nvSpPr>
        <p:spPr>
          <a:xfrm>
            <a:off x="6157913" y="1933575"/>
            <a:ext cx="2795588" cy="133350"/>
          </a:xfrm>
          <a:prstGeom prst="rect">
            <a:avLst/>
          </a:prstGeom>
          <a:noFill/>
          <a:ln/>
        </p:spPr>
        <p:txBody>
          <a:bodyPr wrap="square" lIns="0" tIns="0" rIns="0" bIns="0" rtlCol="0" anchor="ctr"/>
          <a:lstStyle/>
          <a:p>
            <a:pPr algn="l" indent="0" marL="0">
              <a:lnSpc>
                <a:spcPts val="998"/>
              </a:lnSpc>
              <a:buNone/>
            </a:pPr>
            <a:r>
              <a:rPr lang="en-US" sz="855" dirty="0">
                <a:solidFill>
                  <a:srgbClr val="000000">
                    <a:alpha val="99000"/>
                  </a:srgbClr>
                </a:solidFill>
                <a:latin typeface="Work Sans" pitchFamily="34" charset="0"/>
                <a:ea typeface="Work Sans" pitchFamily="34" charset="-122"/>
                <a:cs typeface="Work Sans" pitchFamily="34" charset="-120"/>
              </a:rPr>
              <a:t>Airplane Crashes and Fatalities Since 1908</a:t>
            </a:r>
            <a:endParaRPr lang="en-US" sz="855" dirty="0"/>
          </a:p>
        </p:txBody>
      </p:sp>
      <p:sp>
        <p:nvSpPr>
          <p:cNvPr id="12" name="Text 7"/>
          <p:cNvSpPr/>
          <p:nvPr/>
        </p:nvSpPr>
        <p:spPr>
          <a:xfrm>
            <a:off x="4424363" y="1947863"/>
            <a:ext cx="1000125" cy="104775"/>
          </a:xfrm>
          <a:prstGeom prst="rect">
            <a:avLst/>
          </a:prstGeom>
          <a:noFill/>
          <a:ln/>
        </p:spPr>
        <p:txBody>
          <a:bodyPr wrap="square" lIns="0" tIns="0" rIns="0" bIns="0" rtlCol="0" anchor="t"/>
          <a:lstStyle/>
          <a:p>
            <a:pPr algn="l" indent="0" marL="0">
              <a:lnSpc>
                <a:spcPts val="785"/>
              </a:lnSpc>
              <a:buNone/>
            </a:pPr>
            <a:r>
              <a:rPr lang="en-US" sz="713" u="sng" spc="71" kern="0" dirty="0">
                <a:solidFill>
                  <a:srgbClr val="000000">
                    <a:alpha val="99000"/>
                  </a:srgbClr>
                </a:solidFill>
                <a:latin typeface="Cutive Mono" pitchFamily="34" charset="0"/>
                <a:ea typeface="Cutive Mono" pitchFamily="34" charset="-122"/>
                <a:cs typeface="Cutive Mono" pitchFamily="34" charset="-120"/>
                <a:hlinkClick r:id="rId4" invalidUrl="" action="" tgtFrame="" tooltip="" history="1" highlightClick="0" endSnd="0">
                  <a:extLst>
                    <a:ext uri="{A12FA001-AC4F-418D-AE19-62706E023703}">
                      <ahyp:hlinkClr xmlns:ahyp="http://schemas.microsoft.com/office/drawing/2018/hyperlinkcolor" val="tx"/>
                    </a:ext>
                  </a:extLst>
                </a:hlinkClick>
              </a:rPr>
              <a:t>LINK TO FEATURE</a:t>
            </a:r>
            <a:endParaRPr lang="en-US" sz="713" dirty="0"/>
          </a:p>
        </p:txBody>
      </p:sp>
      <p:sp>
        <p:nvSpPr>
          <p:cNvPr id="13" name="Text 8"/>
          <p:cNvSpPr/>
          <p:nvPr/>
        </p:nvSpPr>
        <p:spPr>
          <a:xfrm>
            <a:off x="1376363" y="2881313"/>
            <a:ext cx="2314575" cy="309563"/>
          </a:xfrm>
          <a:prstGeom prst="rect">
            <a:avLst/>
          </a:prstGeom>
          <a:noFill/>
          <a:ln/>
        </p:spPr>
        <p:txBody>
          <a:bodyPr wrap="square" lIns="0" tIns="0" rIns="0" bIns="0" rtlCol="0" anchor="t"/>
          <a:lstStyle/>
          <a:p>
            <a:pPr algn="l" indent="0" marL="0">
              <a:lnSpc>
                <a:spcPts val="2316"/>
              </a:lnSpc>
              <a:buNone/>
            </a:pPr>
            <a:r>
              <a:rPr lang="en-US" sz="1425" spc="-28" kern="0" dirty="0">
                <a:solidFill>
                  <a:srgbClr val="000000">
                    <a:alpha val="99000"/>
                  </a:srgbClr>
                </a:solidFill>
                <a:latin typeface="Work Sans" pitchFamily="34" charset="0"/>
                <a:ea typeface="Work Sans" pitchFamily="34" charset="-122"/>
                <a:cs typeface="Work Sans" pitchFamily="34" charset="-120"/>
              </a:rPr>
              <a:t>DATA SET TWO</a:t>
            </a:r>
            <a:endParaRPr lang="en-US" sz="1425" dirty="0"/>
          </a:p>
        </p:txBody>
      </p:sp>
      <p:sp>
        <p:nvSpPr>
          <p:cNvPr id="14" name="Text 9"/>
          <p:cNvSpPr/>
          <p:nvPr/>
        </p:nvSpPr>
        <p:spPr>
          <a:xfrm>
            <a:off x="4424363" y="2986088"/>
            <a:ext cx="1000125" cy="104775"/>
          </a:xfrm>
          <a:prstGeom prst="rect">
            <a:avLst/>
          </a:prstGeom>
          <a:noFill/>
          <a:ln/>
        </p:spPr>
        <p:txBody>
          <a:bodyPr wrap="square" lIns="0" tIns="0" rIns="0" bIns="0" rtlCol="0" anchor="t"/>
          <a:lstStyle/>
          <a:p>
            <a:pPr algn="l" indent="0" marL="0">
              <a:lnSpc>
                <a:spcPts val="785"/>
              </a:lnSpc>
              <a:buNone/>
            </a:pPr>
            <a:r>
              <a:rPr lang="en-US" sz="713" u="sng" spc="71" kern="0" dirty="0">
                <a:solidFill>
                  <a:srgbClr val="000000">
                    <a:alpha val="99000"/>
                  </a:srgbClr>
                </a:solidFill>
                <a:latin typeface="Cutive Mono" pitchFamily="34" charset="0"/>
                <a:ea typeface="Cutive Mono" pitchFamily="34" charset="-122"/>
                <a:cs typeface="Cutive Mono" pitchFamily="34" charset="-120"/>
                <a:hlinkClick r:id="rId5" invalidUrl="" action="" tgtFrame="" tooltip="" history="1" highlightClick="0" endSnd="0">
                  <a:extLst>
                    <a:ext uri="{A12FA001-AC4F-418D-AE19-62706E023703}">
                      <ahyp:hlinkClr xmlns:ahyp="http://schemas.microsoft.com/office/drawing/2018/hyperlinkcolor" val="tx"/>
                    </a:ext>
                  </a:extLst>
                </a:hlinkClick>
              </a:rPr>
              <a:t>LINK TO FEATURE</a:t>
            </a:r>
            <a:endParaRPr lang="en-US" sz="713" dirty="0"/>
          </a:p>
        </p:txBody>
      </p:sp>
      <p:sp>
        <p:nvSpPr>
          <p:cNvPr id="15" name="Text 10"/>
          <p:cNvSpPr/>
          <p:nvPr/>
        </p:nvSpPr>
        <p:spPr>
          <a:xfrm>
            <a:off x="6157913" y="2771775"/>
            <a:ext cx="2795588" cy="533400"/>
          </a:xfrm>
          <a:prstGeom prst="rect">
            <a:avLst/>
          </a:prstGeom>
          <a:noFill/>
          <a:ln/>
        </p:spPr>
        <p:txBody>
          <a:bodyPr wrap="square" lIns="0" tIns="0" rIns="0" bIns="0" rtlCol="0" anchor="ctr"/>
          <a:lstStyle/>
          <a:p>
            <a:pPr algn="l" indent="0" marL="0">
              <a:lnSpc>
                <a:spcPts val="998"/>
              </a:lnSpc>
              <a:buNone/>
            </a:pPr>
            <a:r>
              <a:rPr lang="en-US" sz="855" dirty="0">
                <a:solidFill>
                  <a:srgbClr val="000000">
                    <a:alpha val="99000"/>
                  </a:srgbClr>
                </a:solidFill>
                <a:latin typeface="Work Sans" pitchFamily="34" charset="0"/>
                <a:ea typeface="Work Sans" pitchFamily="34" charset="-122"/>
                <a:cs typeface="Work Sans" pitchFamily="34" charset="-120"/>
              </a:rPr>
              <a:t>All civil and commercial aviation accidents of scheduled and non-scheduled passenger airliners worldwide, which resulted in a fatality (including all U.S. Part 121 and Part 135 fatal accidents)</a:t>
            </a:r>
            <a:endParaRPr lang="en-US" sz="855" dirty="0"/>
          </a:p>
        </p:txBody>
      </p:sp>
      <p:sp>
        <p:nvSpPr>
          <p:cNvPr id="16" name="Text 11"/>
          <p:cNvSpPr/>
          <p:nvPr/>
        </p:nvSpPr>
        <p:spPr>
          <a:xfrm>
            <a:off x="6157913" y="3990975"/>
            <a:ext cx="2795588" cy="266700"/>
          </a:xfrm>
          <a:prstGeom prst="rect">
            <a:avLst/>
          </a:prstGeom>
          <a:noFill/>
          <a:ln/>
        </p:spPr>
        <p:txBody>
          <a:bodyPr wrap="square" lIns="0" tIns="0" rIns="0" bIns="0" rtlCol="0" anchor="ctr"/>
          <a:lstStyle/>
          <a:p>
            <a:pPr algn="l" indent="0" marL="0">
              <a:lnSpc>
                <a:spcPts val="998"/>
              </a:lnSpc>
              <a:buNone/>
            </a:pPr>
            <a:r>
              <a:rPr lang="en-US" sz="855" dirty="0">
                <a:solidFill>
                  <a:srgbClr val="000000">
                    <a:alpha val="99000"/>
                  </a:srgbClr>
                </a:solidFill>
                <a:latin typeface="Work Sans" pitchFamily="34" charset="0"/>
                <a:ea typeface="Work Sans" pitchFamily="34" charset="-122"/>
                <a:cs typeface="Work Sans" pitchFamily="34" charset="-120"/>
              </a:rPr>
              <a:t>Airplane Crashes and Fatalities Since 1908 to Present 2021 (from plancrashinfo.com)</a:t>
            </a:r>
            <a:endParaRPr lang="en-US" sz="855" dirty="0"/>
          </a:p>
        </p:txBody>
      </p:sp>
      <p:sp>
        <p:nvSpPr>
          <p:cNvPr id="17" name="Text 12"/>
          <p:cNvSpPr/>
          <p:nvPr/>
        </p:nvSpPr>
        <p:spPr>
          <a:xfrm>
            <a:off x="4424363" y="4071938"/>
            <a:ext cx="1000125" cy="104775"/>
          </a:xfrm>
          <a:prstGeom prst="rect">
            <a:avLst/>
          </a:prstGeom>
          <a:noFill/>
          <a:ln/>
        </p:spPr>
        <p:txBody>
          <a:bodyPr wrap="square" lIns="0" tIns="0" rIns="0" bIns="0" rtlCol="0" anchor="ctr"/>
          <a:lstStyle/>
          <a:p>
            <a:pPr algn="l" indent="0" marL="0">
              <a:lnSpc>
                <a:spcPts val="785"/>
              </a:lnSpc>
              <a:buNone/>
            </a:pPr>
            <a:r>
              <a:rPr lang="en-US" sz="713" u="sng" spc="71" kern="0" dirty="0">
                <a:solidFill>
                  <a:srgbClr val="000000">
                    <a:alpha val="99000"/>
                  </a:srgbClr>
                </a:solidFill>
                <a:latin typeface="Cutive Mono" pitchFamily="34" charset="0"/>
                <a:ea typeface="Cutive Mono" pitchFamily="34" charset="-122"/>
                <a:cs typeface="Cutive Mono" pitchFamily="34" charset="-120"/>
                <a:hlinkClick r:id="rId6" invalidUrl="" action="" tgtFrame="" tooltip="" history="1" highlightClick="0" endSnd="0">
                  <a:extLst>
                    <a:ext uri="{A12FA001-AC4F-418D-AE19-62706E023703}">
                      <ahyp:hlinkClr xmlns:ahyp="http://schemas.microsoft.com/office/drawing/2018/hyperlinkcolor" val="tx"/>
                    </a:ext>
                  </a:extLst>
                </a:hlinkClick>
              </a:rPr>
              <a:t>LINK TO FEATURE</a:t>
            </a:r>
            <a:endParaRPr lang="en-US" sz="713" dirty="0"/>
          </a:p>
        </p:txBody>
      </p:sp>
      <p:sp>
        <p:nvSpPr>
          <p:cNvPr id="18" name="Text 13"/>
          <p:cNvSpPr/>
          <p:nvPr/>
        </p:nvSpPr>
        <p:spPr>
          <a:xfrm>
            <a:off x="190500" y="533400"/>
            <a:ext cx="4019550" cy="309563"/>
          </a:xfrm>
          <a:prstGeom prst="rect">
            <a:avLst/>
          </a:prstGeom>
          <a:noFill/>
          <a:ln/>
        </p:spPr>
        <p:txBody>
          <a:bodyPr wrap="square" lIns="0" tIns="0" rIns="0" bIns="0" rtlCol="0" anchor="t"/>
          <a:lstStyle/>
          <a:p>
            <a:pPr algn="l" indent="0" marL="0">
              <a:lnSpc>
                <a:spcPts val="2316"/>
              </a:lnSpc>
              <a:buNone/>
            </a:pPr>
            <a:r>
              <a:rPr lang="en-US" sz="1425" spc="-28" kern="0" dirty="0">
                <a:solidFill>
                  <a:srgbClr val="000000">
                    <a:alpha val="99000"/>
                  </a:srgbClr>
                </a:solidFill>
                <a:latin typeface="Work Sans" pitchFamily="34" charset="0"/>
                <a:ea typeface="Work Sans" pitchFamily="34" charset="-122"/>
                <a:cs typeface="Work Sans" pitchFamily="34" charset="-120"/>
              </a:rPr>
              <a:t>DATA OVERVIEW</a:t>
            </a:r>
            <a:endParaRPr lang="en-US" sz="1425" dirty="0"/>
          </a:p>
        </p:txBody>
      </p:sp>
      <p:sp>
        <p:nvSpPr>
          <p:cNvPr id="19" name="Text 14"/>
          <p:cNvSpPr/>
          <p:nvPr/>
        </p:nvSpPr>
        <p:spPr>
          <a:xfrm>
            <a:off x="190500" y="4886325"/>
            <a:ext cx="1395413"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INSIGHT TEAM</a:t>
            </a:r>
            <a:endParaRPr lang="en-US" sz="784" dirty="0"/>
          </a:p>
        </p:txBody>
      </p:sp>
      <p:sp>
        <p:nvSpPr>
          <p:cNvPr id="20" name="Text 15"/>
          <p:cNvSpPr/>
          <p:nvPr/>
        </p:nvSpPr>
        <p:spPr>
          <a:xfrm>
            <a:off x="7924800" y="4886325"/>
            <a:ext cx="1028700" cy="114300"/>
          </a:xfrm>
          <a:prstGeom prst="rect">
            <a:avLst/>
          </a:prstGeom>
          <a:noFill/>
          <a:ln/>
        </p:spPr>
        <p:txBody>
          <a:bodyPr wrap="square" lIns="0" tIns="0" rIns="0" bIns="0" rtlCol="0" anchor="t"/>
          <a:lstStyle/>
          <a:p>
            <a:pPr algn="r"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FALL 2025</a:t>
            </a:r>
            <a:endParaRPr lang="en-US" sz="784" dirty="0"/>
          </a:p>
        </p:txBody>
      </p:sp>
      <p:sp>
        <p:nvSpPr>
          <p:cNvPr id="21" name="Text 16"/>
          <p:cNvSpPr/>
          <p:nvPr/>
        </p:nvSpPr>
        <p:spPr>
          <a:xfrm>
            <a:off x="190500" y="142875"/>
            <a:ext cx="1690688"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BUSINESS ANALYTICS CLUB</a:t>
            </a:r>
            <a:endParaRPr lang="en-US" sz="78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7133202" y="265676"/>
            <a:ext cx="1735596" cy="1735598"/>
          </a:xfrm>
          <a:prstGeom prst="rect">
            <a:avLst/>
          </a:prstGeom>
        </p:spPr>
      </p:pic>
      <p:pic>
        <p:nvPicPr>
          <p:cNvPr id="3" name="Image 1" descr="preencoded.png">    </p:cNvPr>
          <p:cNvPicPr>
            <a:picLocks noChangeAspect="1"/>
          </p:cNvPicPr>
          <p:nvPr/>
        </p:nvPicPr>
        <p:blipFill>
          <a:blip r:embed="rId2"/>
          <a:srcRect l="0" r="28753" t="0" b="28763"/>
          <a:stretch/>
        </p:blipFill>
        <p:spPr>
          <a:xfrm>
            <a:off x="6867525" y="0"/>
            <a:ext cx="1615143" cy="1614918"/>
          </a:xfrm>
          <a:prstGeom prst="rect">
            <a:avLst/>
          </a:prstGeom>
        </p:spPr>
      </p:pic>
      <p:sp>
        <p:nvSpPr>
          <p:cNvPr id="4" name="Text 0"/>
          <p:cNvSpPr/>
          <p:nvPr/>
        </p:nvSpPr>
        <p:spPr>
          <a:xfrm>
            <a:off x="190500" y="4886325"/>
            <a:ext cx="881063"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INSIGHT TEAM</a:t>
            </a:r>
            <a:endParaRPr lang="en-US" sz="784" dirty="0"/>
          </a:p>
        </p:txBody>
      </p:sp>
      <p:sp>
        <p:nvSpPr>
          <p:cNvPr id="5" name="Text 1"/>
          <p:cNvSpPr/>
          <p:nvPr/>
        </p:nvSpPr>
        <p:spPr>
          <a:xfrm>
            <a:off x="8296275" y="4886325"/>
            <a:ext cx="657225" cy="114300"/>
          </a:xfrm>
          <a:prstGeom prst="rect">
            <a:avLst/>
          </a:prstGeom>
          <a:noFill/>
          <a:ln/>
        </p:spPr>
        <p:txBody>
          <a:bodyPr wrap="square" lIns="0" tIns="0" rIns="0" bIns="0" rtlCol="0" anchor="t"/>
          <a:lstStyle/>
          <a:p>
            <a:pPr algn="r"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FALL 2025</a:t>
            </a:r>
            <a:endParaRPr lang="en-US" sz="784" dirty="0"/>
          </a:p>
        </p:txBody>
      </p:sp>
      <p:sp>
        <p:nvSpPr>
          <p:cNvPr id="6" name="Text 2"/>
          <p:cNvSpPr/>
          <p:nvPr/>
        </p:nvSpPr>
        <p:spPr>
          <a:xfrm>
            <a:off x="190500" y="142875"/>
            <a:ext cx="1690688"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BUSINESS ANALYTICS CLUB</a:t>
            </a:r>
            <a:endParaRPr lang="en-US" sz="784" dirty="0"/>
          </a:p>
        </p:txBody>
      </p:sp>
      <p:pic>
        <p:nvPicPr>
          <p:cNvPr id="7" name="Image 2" descr="preencoded.png">    </p:cNvPr>
          <p:cNvPicPr>
            <a:picLocks noChangeAspect="1"/>
          </p:cNvPicPr>
          <p:nvPr/>
        </p:nvPicPr>
        <p:blipFill>
          <a:blip r:embed="rId3"/>
          <a:srcRect l="0" r="0" t="0" b="0"/>
          <a:stretch/>
        </p:blipFill>
        <p:spPr>
          <a:xfrm>
            <a:off x="2014538" y="657225"/>
            <a:ext cx="6353194" cy="38291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7133202" y="265676"/>
            <a:ext cx="1735596" cy="1735598"/>
          </a:xfrm>
          <a:prstGeom prst="rect">
            <a:avLst/>
          </a:prstGeom>
        </p:spPr>
      </p:pic>
      <p:pic>
        <p:nvPicPr>
          <p:cNvPr id="3" name="Image 1" descr="preencoded.png">    </p:cNvPr>
          <p:cNvPicPr>
            <a:picLocks noChangeAspect="1"/>
          </p:cNvPicPr>
          <p:nvPr/>
        </p:nvPicPr>
        <p:blipFill>
          <a:blip r:embed="rId2"/>
          <a:srcRect l="0" r="28753" t="0" b="28763"/>
          <a:stretch/>
        </p:blipFill>
        <p:spPr>
          <a:xfrm>
            <a:off x="6867525" y="0"/>
            <a:ext cx="1615143" cy="1614918"/>
          </a:xfrm>
          <a:prstGeom prst="rect">
            <a:avLst/>
          </a:prstGeom>
        </p:spPr>
      </p:pic>
      <p:sp>
        <p:nvSpPr>
          <p:cNvPr id="4" name="Text 0"/>
          <p:cNvSpPr/>
          <p:nvPr/>
        </p:nvSpPr>
        <p:spPr>
          <a:xfrm>
            <a:off x="190500" y="4886325"/>
            <a:ext cx="881063"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INSIGHT TEAM</a:t>
            </a:r>
            <a:endParaRPr lang="en-US" sz="784" dirty="0"/>
          </a:p>
        </p:txBody>
      </p:sp>
      <p:sp>
        <p:nvSpPr>
          <p:cNvPr id="5" name="Text 1"/>
          <p:cNvSpPr/>
          <p:nvPr/>
        </p:nvSpPr>
        <p:spPr>
          <a:xfrm>
            <a:off x="8296275" y="4886325"/>
            <a:ext cx="657225" cy="114300"/>
          </a:xfrm>
          <a:prstGeom prst="rect">
            <a:avLst/>
          </a:prstGeom>
          <a:noFill/>
          <a:ln/>
        </p:spPr>
        <p:txBody>
          <a:bodyPr wrap="square" lIns="0" tIns="0" rIns="0" bIns="0" rtlCol="0" anchor="t"/>
          <a:lstStyle/>
          <a:p>
            <a:pPr algn="r"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FALL 2025</a:t>
            </a:r>
            <a:endParaRPr lang="en-US" sz="784" dirty="0"/>
          </a:p>
        </p:txBody>
      </p:sp>
      <p:sp>
        <p:nvSpPr>
          <p:cNvPr id="6" name="Text 2"/>
          <p:cNvSpPr/>
          <p:nvPr/>
        </p:nvSpPr>
        <p:spPr>
          <a:xfrm>
            <a:off x="190500" y="142875"/>
            <a:ext cx="1690688"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BUSINESS ANALYTICS CLUB</a:t>
            </a:r>
            <a:endParaRPr lang="en-US" sz="784" dirty="0"/>
          </a:p>
        </p:txBody>
      </p:sp>
      <p:pic>
        <p:nvPicPr>
          <p:cNvPr id="7" name="Image 2" descr="preencoded.png">    </p:cNvPr>
          <p:cNvPicPr>
            <a:picLocks noChangeAspect="1"/>
          </p:cNvPicPr>
          <p:nvPr/>
        </p:nvPicPr>
        <p:blipFill>
          <a:blip r:embed="rId3"/>
          <a:srcRect l="0" r="0" t="0" b="0"/>
          <a:stretch/>
        </p:blipFill>
        <p:spPr>
          <a:xfrm>
            <a:off x="514350" y="533400"/>
            <a:ext cx="4057650" cy="4095750"/>
          </a:xfrm>
          <a:prstGeom prst="rect">
            <a:avLst/>
          </a:prstGeom>
        </p:spPr>
      </p:pic>
      <p:pic>
        <p:nvPicPr>
          <p:cNvPr id="8" name="Image 3" descr="preencoded.png">    </p:cNvPr>
          <p:cNvPicPr>
            <a:picLocks noChangeAspect="1"/>
          </p:cNvPicPr>
          <p:nvPr/>
        </p:nvPicPr>
        <p:blipFill>
          <a:blip r:embed="rId4"/>
          <a:srcRect l="0" r="0" t="0" b="0"/>
          <a:stretch/>
        </p:blipFill>
        <p:spPr>
          <a:xfrm>
            <a:off x="4572000" y="533400"/>
            <a:ext cx="3843338" cy="40767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7133202" y="265676"/>
            <a:ext cx="1735596" cy="1735598"/>
          </a:xfrm>
          <a:prstGeom prst="rect">
            <a:avLst/>
          </a:prstGeom>
        </p:spPr>
      </p:pic>
      <p:pic>
        <p:nvPicPr>
          <p:cNvPr id="3" name="Image 1" descr="preencoded.png">    </p:cNvPr>
          <p:cNvPicPr>
            <a:picLocks noChangeAspect="1"/>
          </p:cNvPicPr>
          <p:nvPr/>
        </p:nvPicPr>
        <p:blipFill>
          <a:blip r:embed="rId2"/>
          <a:srcRect l="0" r="28752" t="0" b="28763"/>
          <a:stretch/>
        </p:blipFill>
        <p:spPr>
          <a:xfrm>
            <a:off x="6867530" y="0"/>
            <a:ext cx="1615148" cy="1614918"/>
          </a:xfrm>
          <a:prstGeom prst="rect">
            <a:avLst/>
          </a:prstGeom>
        </p:spPr>
      </p:pic>
      <p:sp>
        <p:nvSpPr>
          <p:cNvPr id="4" name="Text 0"/>
          <p:cNvSpPr/>
          <p:nvPr/>
        </p:nvSpPr>
        <p:spPr>
          <a:xfrm>
            <a:off x="190500" y="4886325"/>
            <a:ext cx="881063"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INSIGHT TEAM</a:t>
            </a:r>
            <a:endParaRPr lang="en-US" sz="784" dirty="0"/>
          </a:p>
        </p:txBody>
      </p:sp>
      <p:sp>
        <p:nvSpPr>
          <p:cNvPr id="5" name="Text 1"/>
          <p:cNvSpPr/>
          <p:nvPr/>
        </p:nvSpPr>
        <p:spPr>
          <a:xfrm>
            <a:off x="8296275" y="4886325"/>
            <a:ext cx="657225" cy="114300"/>
          </a:xfrm>
          <a:prstGeom prst="rect">
            <a:avLst/>
          </a:prstGeom>
          <a:noFill/>
          <a:ln/>
        </p:spPr>
        <p:txBody>
          <a:bodyPr wrap="square" lIns="0" tIns="0" rIns="0" bIns="0" rtlCol="0" anchor="t"/>
          <a:lstStyle/>
          <a:p>
            <a:pPr algn="r"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FALL 2025</a:t>
            </a:r>
            <a:endParaRPr lang="en-US" sz="784" dirty="0"/>
          </a:p>
        </p:txBody>
      </p:sp>
      <p:sp>
        <p:nvSpPr>
          <p:cNvPr id="6" name="Text 2"/>
          <p:cNvSpPr/>
          <p:nvPr/>
        </p:nvSpPr>
        <p:spPr>
          <a:xfrm>
            <a:off x="190500" y="142875"/>
            <a:ext cx="1690688"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BUSINESS ANALYTICS CLUB</a:t>
            </a:r>
            <a:endParaRPr lang="en-US" sz="784" dirty="0"/>
          </a:p>
        </p:txBody>
      </p:sp>
      <p:pic>
        <p:nvPicPr>
          <p:cNvPr id="7" name="Image 2" descr="preencoded.png">    </p:cNvPr>
          <p:cNvPicPr>
            <a:picLocks noChangeAspect="1"/>
          </p:cNvPicPr>
          <p:nvPr/>
        </p:nvPicPr>
        <p:blipFill>
          <a:blip r:embed="rId3"/>
          <a:srcRect l="0" r="0" t="0" b="0"/>
          <a:stretch/>
        </p:blipFill>
        <p:spPr>
          <a:xfrm>
            <a:off x="2009775" y="633413"/>
            <a:ext cx="6472238" cy="397668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DCDBC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528638" y="1085850"/>
            <a:ext cx="8115300" cy="2266950"/>
          </a:xfrm>
          <a:prstGeom prst="rect">
            <a:avLst/>
          </a:prstGeom>
        </p:spPr>
      </p:pic>
      <p:sp>
        <p:nvSpPr>
          <p:cNvPr id="3" name="Text 0"/>
          <p:cNvSpPr/>
          <p:nvPr/>
        </p:nvSpPr>
        <p:spPr>
          <a:xfrm>
            <a:off x="219075" y="304800"/>
            <a:ext cx="2990850" cy="304800"/>
          </a:xfrm>
          <a:prstGeom prst="rect">
            <a:avLst/>
          </a:prstGeom>
          <a:noFill/>
          <a:ln/>
        </p:spPr>
        <p:txBody>
          <a:bodyPr wrap="square" lIns="0" tIns="0" rIns="0" bIns="0" rtlCol="0" anchor="t"/>
          <a:lstStyle/>
          <a:p>
            <a:pPr algn="l" indent="0" marL="0">
              <a:lnSpc>
                <a:spcPts val="2280"/>
              </a:lnSpc>
              <a:buNone/>
            </a:pPr>
            <a:r>
              <a:rPr lang="en-US" sz="2316" spc="-46" kern="0" dirty="0">
                <a:solidFill>
                  <a:srgbClr val="000000">
                    <a:alpha val="99000"/>
                  </a:srgbClr>
                </a:solidFill>
                <a:latin typeface="Work Sans" pitchFamily="34" charset="0"/>
                <a:ea typeface="Work Sans" pitchFamily="34" charset="-122"/>
                <a:cs typeface="Work Sans" pitchFamily="34" charset="-120"/>
              </a:rPr>
              <a:t>Decision Tree</a:t>
            </a:r>
            <a:endParaRPr lang="en-US" sz="2316" dirty="0"/>
          </a:p>
        </p:txBody>
      </p:sp>
      <p:sp>
        <p:nvSpPr>
          <p:cNvPr id="4" name="Shape 1"/>
          <p:cNvSpPr/>
          <p:nvPr/>
        </p:nvSpPr>
        <p:spPr>
          <a:xfrm rot="10800000">
            <a:off x="219075" y="919163"/>
            <a:ext cx="8696325" cy="0"/>
          </a:xfrm>
          <a:prstGeom prst="line">
            <a:avLst/>
          </a:prstGeom>
          <a:noFill/>
          <a:ln w="9049">
            <a:solidFill>
              <a:srgbClr val="000000"/>
            </a:solidFill>
            <a:prstDash val="solid"/>
          </a:ln>
        </p:spPr>
      </p:sp>
      <p:sp>
        <p:nvSpPr>
          <p:cNvPr id="5" name="Text 2"/>
          <p:cNvSpPr/>
          <p:nvPr/>
        </p:nvSpPr>
        <p:spPr>
          <a:xfrm>
            <a:off x="238125" y="647700"/>
            <a:ext cx="8696325" cy="133350"/>
          </a:xfrm>
          <a:prstGeom prst="rect">
            <a:avLst/>
          </a:prstGeom>
          <a:noFill/>
          <a:ln/>
        </p:spPr>
        <p:txBody>
          <a:bodyPr wrap="square" lIns="0" tIns="0" rIns="0" bIns="0" rtlCol="0" anchor="ctr"/>
          <a:lstStyle/>
          <a:p>
            <a:pPr algn="l" indent="0" marL="0">
              <a:lnSpc>
                <a:spcPts val="998"/>
              </a:lnSpc>
              <a:buNone/>
            </a:pPr>
            <a:r>
              <a:rPr lang="en-US" sz="1140" dirty="0">
                <a:solidFill>
                  <a:srgbClr val="000000">
                    <a:alpha val="99000"/>
                  </a:srgbClr>
                </a:solidFill>
                <a:latin typeface="Work Sans" pitchFamily="34" charset="0"/>
                <a:ea typeface="Work Sans" pitchFamily="34" charset="-122"/>
                <a:cs typeface="Work Sans" pitchFamily="34" charset="-120"/>
              </a:rPr>
              <a:t>Use passenger and crew data to predict overall crash fatality rates and reveal key patterns in aviation safety</a:t>
            </a:r>
            <a:endParaRPr lang="en-US" sz="1140" dirty="0"/>
          </a:p>
        </p:txBody>
      </p:sp>
      <p:sp>
        <p:nvSpPr>
          <p:cNvPr id="6" name="Text 3"/>
          <p:cNvSpPr/>
          <p:nvPr/>
        </p:nvSpPr>
        <p:spPr>
          <a:xfrm rot="5381157">
            <a:off x="725842" y="3532602"/>
            <a:ext cx="153270" cy="127740"/>
          </a:xfrm>
          <a:prstGeom prst="triangle">
            <a:avLst/>
          </a:prstGeom>
          <a:solidFill>
            <a:srgbClr val="000000"/>
          </a:solidFill>
          <a:ln w="108585">
            <a:solidFill>
              <a:srgbClr val="000000"/>
            </a:solidFill>
          </a:ln>
        </p:spPr>
        <p:txBody>
          <a:bodyPr wrap="square" rtlCol="0" anchor="ctr"/>
          <a:lstStyle/>
          <a:p>
            <a:pPr indent="0" marL="0">
              <a:buNone/>
            </a:pPr>
            <a:endParaRPr lang="en-US" dirty="0"/>
          </a:p>
        </p:txBody>
      </p:sp>
      <p:sp>
        <p:nvSpPr>
          <p:cNvPr id="7" name="Text 4"/>
          <p:cNvSpPr/>
          <p:nvPr/>
        </p:nvSpPr>
        <p:spPr>
          <a:xfrm rot="5381157">
            <a:off x="963967" y="3956464"/>
            <a:ext cx="153270" cy="127740"/>
          </a:xfrm>
          <a:prstGeom prst="triangle">
            <a:avLst/>
          </a:prstGeom>
          <a:solidFill>
            <a:srgbClr val="000000"/>
          </a:solidFill>
          <a:ln w="108585">
            <a:solidFill>
              <a:srgbClr val="000000"/>
            </a:solidFill>
          </a:ln>
        </p:spPr>
        <p:txBody>
          <a:bodyPr wrap="square" rtlCol="0" anchor="ctr"/>
          <a:lstStyle/>
          <a:p>
            <a:pPr indent="0" marL="0">
              <a:buNone/>
            </a:pPr>
            <a:endParaRPr lang="en-US" dirty="0"/>
          </a:p>
        </p:txBody>
      </p:sp>
      <p:sp>
        <p:nvSpPr>
          <p:cNvPr id="8" name="Text 5"/>
          <p:cNvSpPr/>
          <p:nvPr/>
        </p:nvSpPr>
        <p:spPr>
          <a:xfrm rot="5381157">
            <a:off x="987779" y="4413664"/>
            <a:ext cx="153270" cy="127740"/>
          </a:xfrm>
          <a:prstGeom prst="triangle">
            <a:avLst/>
          </a:prstGeom>
          <a:solidFill>
            <a:srgbClr val="000000"/>
          </a:solidFill>
          <a:ln w="108585">
            <a:solidFill>
              <a:srgbClr val="000000"/>
            </a:solidFill>
          </a:ln>
        </p:spPr>
        <p:txBody>
          <a:bodyPr wrap="square" rtlCol="0" anchor="ctr"/>
          <a:lstStyle/>
          <a:p>
            <a:pPr indent="0" marL="0">
              <a:buNone/>
            </a:pPr>
            <a:endParaRPr lang="en-US" dirty="0"/>
          </a:p>
        </p:txBody>
      </p:sp>
      <p:sp>
        <p:nvSpPr>
          <p:cNvPr id="9" name="Text 6"/>
          <p:cNvSpPr/>
          <p:nvPr/>
        </p:nvSpPr>
        <p:spPr>
          <a:xfrm>
            <a:off x="976312" y="3529013"/>
            <a:ext cx="1419225" cy="133350"/>
          </a:xfrm>
          <a:prstGeom prst="rect">
            <a:avLst/>
          </a:prstGeom>
          <a:noFill/>
          <a:ln/>
        </p:spPr>
        <p:txBody>
          <a:bodyPr wrap="square" lIns="0" tIns="0" rIns="0" bIns="0" rtlCol="0" anchor="t"/>
          <a:lstStyle/>
          <a:p>
            <a:pPr algn="l" indent="0" marL="0">
              <a:lnSpc>
                <a:spcPts val="998"/>
              </a:lnSpc>
              <a:buNone/>
            </a:pPr>
            <a:r>
              <a:rPr lang="en-US" sz="1425" dirty="0">
                <a:solidFill>
                  <a:srgbClr val="000000">
                    <a:alpha val="99000"/>
                  </a:srgbClr>
                </a:solidFill>
                <a:latin typeface="Work Sans" pitchFamily="34" charset="0"/>
                <a:ea typeface="Work Sans" pitchFamily="34" charset="-122"/>
                <a:cs typeface="Work Sans" pitchFamily="34" charset="-120"/>
              </a:rPr>
              <a:t>Random Forest</a:t>
            </a:r>
            <a:endParaRPr lang="en-US" sz="1425" dirty="0"/>
          </a:p>
        </p:txBody>
      </p:sp>
      <p:sp>
        <p:nvSpPr>
          <p:cNvPr id="10" name="Text 7"/>
          <p:cNvSpPr/>
          <p:nvPr/>
        </p:nvSpPr>
        <p:spPr>
          <a:xfrm>
            <a:off x="1228725" y="4410075"/>
            <a:ext cx="2543175" cy="133350"/>
          </a:xfrm>
          <a:prstGeom prst="rect">
            <a:avLst/>
          </a:prstGeom>
          <a:noFill/>
          <a:ln/>
        </p:spPr>
        <p:txBody>
          <a:bodyPr wrap="square" lIns="0" tIns="0" rIns="0" bIns="0" rtlCol="0" anchor="t"/>
          <a:lstStyle/>
          <a:p>
            <a:pPr algn="l" indent="0" marL="0">
              <a:lnSpc>
                <a:spcPts val="998"/>
              </a:lnSpc>
              <a:buNone/>
            </a:pPr>
            <a:r>
              <a:rPr lang="en-US" sz="1425" dirty="0">
                <a:solidFill>
                  <a:srgbClr val="000000">
                    <a:alpha val="99000"/>
                  </a:srgbClr>
                </a:solidFill>
                <a:latin typeface="Work Sans" pitchFamily="34" charset="0"/>
                <a:ea typeface="Work Sans" pitchFamily="34" charset="-122"/>
                <a:cs typeface="Work Sans" pitchFamily="34" charset="-120"/>
              </a:rPr>
              <a:t>RMSE: 0.3434188733910872</a:t>
            </a:r>
            <a:endParaRPr lang="en-US" sz="1425" dirty="0"/>
          </a:p>
        </p:txBody>
      </p:sp>
      <p:sp>
        <p:nvSpPr>
          <p:cNvPr id="11" name="Text 8"/>
          <p:cNvSpPr/>
          <p:nvPr/>
        </p:nvSpPr>
        <p:spPr>
          <a:xfrm>
            <a:off x="1233488" y="3952875"/>
            <a:ext cx="3262313" cy="133350"/>
          </a:xfrm>
          <a:prstGeom prst="rect">
            <a:avLst/>
          </a:prstGeom>
          <a:noFill/>
          <a:ln/>
        </p:spPr>
        <p:txBody>
          <a:bodyPr wrap="square" lIns="0" tIns="0" rIns="0" bIns="0" rtlCol="0" anchor="t"/>
          <a:lstStyle/>
          <a:p>
            <a:pPr algn="l" indent="0" marL="0">
              <a:lnSpc>
                <a:spcPts val="998"/>
              </a:lnSpc>
              <a:buNone/>
            </a:pPr>
            <a:r>
              <a:rPr lang="en-US" sz="1425" dirty="0">
                <a:solidFill>
                  <a:srgbClr val="000000">
                    <a:alpha val="99000"/>
                  </a:srgbClr>
                </a:solidFill>
                <a:latin typeface="Work Sans" pitchFamily="34" charset="0"/>
                <a:ea typeface="Work Sans" pitchFamily="34" charset="-122"/>
                <a:cs typeface="Work Sans" pitchFamily="34" charset="-120"/>
              </a:rPr>
              <a:t>n_estimators=390, max_features=2</a:t>
            </a:r>
            <a:endParaRPr lang="en-US" sz="1425" dirty="0"/>
          </a:p>
        </p:txBody>
      </p:sp>
      <p:pic>
        <p:nvPicPr>
          <p:cNvPr id="12" name="Image 1" descr="preencoded.png">    </p:cNvPr>
          <p:cNvPicPr>
            <a:picLocks noChangeAspect="1"/>
          </p:cNvPicPr>
          <p:nvPr/>
        </p:nvPicPr>
        <p:blipFill>
          <a:blip r:embed="rId2"/>
          <a:srcRect l="0" r="0" t="0" b="0"/>
          <a:stretch/>
        </p:blipFill>
        <p:spPr>
          <a:xfrm>
            <a:off x="4819650" y="3462338"/>
            <a:ext cx="3805237" cy="15049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DCDBCE"/>
        </a:solidFill>
      </p:bgPr>
    </p:bg>
    <p:spTree>
      <p:nvGrpSpPr>
        <p:cNvPr id="1" name=""/>
        <p:cNvGrpSpPr/>
        <p:nvPr/>
      </p:nvGrpSpPr>
      <p:grpSpPr>
        <a:xfrm>
          <a:off x="0" y="0"/>
          <a:ext cx="0" cy="0"/>
          <a:chOff x="0" y="0"/>
          <a:chExt cx="0" cy="0"/>
        </a:xfrm>
      </p:grpSpPr>
      <p:sp>
        <p:nvSpPr>
          <p:cNvPr id="2" name="Text 0"/>
          <p:cNvSpPr/>
          <p:nvPr/>
        </p:nvSpPr>
        <p:spPr>
          <a:xfrm>
            <a:off x="190500" y="4114800"/>
            <a:ext cx="8763000" cy="495300"/>
          </a:xfrm>
          <a:prstGeom prst="rect">
            <a:avLst/>
          </a:prstGeom>
          <a:noFill/>
          <a:ln/>
        </p:spPr>
        <p:txBody>
          <a:bodyPr wrap="square" lIns="0" tIns="0" rIns="0" bIns="0" rtlCol="0" anchor="b"/>
          <a:lstStyle/>
          <a:p>
            <a:pPr algn="l" indent="0" marL="0">
              <a:lnSpc>
                <a:spcPts val="3694"/>
              </a:lnSpc>
              <a:buNone/>
            </a:pPr>
            <a:r>
              <a:rPr lang="en-US" sz="4560" spc="-182" kern="0" dirty="0">
                <a:solidFill>
                  <a:srgbClr val="000000">
                    <a:alpha val="99000"/>
                  </a:srgbClr>
                </a:solidFill>
                <a:latin typeface="Work Sans" pitchFamily="34" charset="0"/>
                <a:ea typeface="Work Sans" pitchFamily="34" charset="-122"/>
                <a:cs typeface="Work Sans" pitchFamily="34" charset="-120"/>
              </a:rPr>
              <a:t>Model Creation</a:t>
            </a:r>
            <a:endParaRPr lang="en-US" sz="4560" dirty="0"/>
          </a:p>
        </p:txBody>
      </p:sp>
      <p:sp>
        <p:nvSpPr>
          <p:cNvPr id="3" name="Shape 1"/>
          <p:cNvSpPr/>
          <p:nvPr/>
        </p:nvSpPr>
        <p:spPr>
          <a:xfrm rot="5400000">
            <a:off x="5162550" y="2166938"/>
            <a:ext cx="3781425" cy="0"/>
          </a:xfrm>
          <a:prstGeom prst="line">
            <a:avLst/>
          </a:prstGeom>
          <a:noFill/>
          <a:ln w="18097">
            <a:solidFill>
              <a:srgbClr val="000000"/>
            </a:solidFill>
            <a:prstDash val="solid"/>
          </a:ln>
        </p:spPr>
      </p:sp>
      <p:sp>
        <p:nvSpPr>
          <p:cNvPr id="4" name="Shape 2"/>
          <p:cNvSpPr/>
          <p:nvPr/>
        </p:nvSpPr>
        <p:spPr>
          <a:xfrm rot="-10800000">
            <a:off x="5167313" y="2152650"/>
            <a:ext cx="3781425" cy="0"/>
          </a:xfrm>
          <a:prstGeom prst="line">
            <a:avLst/>
          </a:prstGeom>
          <a:noFill/>
          <a:ln w="18097">
            <a:solidFill>
              <a:srgbClr val="000000"/>
            </a:solidFill>
            <a:prstDash val="solid"/>
          </a:ln>
        </p:spPr>
      </p:sp>
      <p:sp>
        <p:nvSpPr>
          <p:cNvPr id="5" name="Shape 3"/>
          <p:cNvSpPr/>
          <p:nvPr/>
        </p:nvSpPr>
        <p:spPr>
          <a:xfrm rot="2700000">
            <a:off x="5165986" y="2165611"/>
            <a:ext cx="3781425" cy="0"/>
          </a:xfrm>
          <a:prstGeom prst="line">
            <a:avLst/>
          </a:prstGeom>
          <a:noFill/>
          <a:ln w="18097">
            <a:solidFill>
              <a:srgbClr val="000000"/>
            </a:solidFill>
            <a:prstDash val="solid"/>
          </a:ln>
        </p:spPr>
      </p:sp>
      <p:sp>
        <p:nvSpPr>
          <p:cNvPr id="6" name="Shape 4"/>
          <p:cNvSpPr/>
          <p:nvPr/>
        </p:nvSpPr>
        <p:spPr>
          <a:xfrm rot="8100000">
            <a:off x="5165986" y="2165610"/>
            <a:ext cx="3781425" cy="0"/>
          </a:xfrm>
          <a:prstGeom prst="line">
            <a:avLst/>
          </a:prstGeom>
          <a:noFill/>
          <a:ln w="18097">
            <a:solidFill>
              <a:srgbClr val="000000"/>
            </a:solidFill>
            <a:prstDash val="solid"/>
          </a:ln>
        </p:spPr>
      </p:sp>
      <p:sp>
        <p:nvSpPr>
          <p:cNvPr id="7" name="Text 5"/>
          <p:cNvSpPr/>
          <p:nvPr/>
        </p:nvSpPr>
        <p:spPr>
          <a:xfrm>
            <a:off x="190500" y="4886325"/>
            <a:ext cx="881063"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INSIGHT TEAM</a:t>
            </a:r>
            <a:endParaRPr lang="en-US" sz="784" dirty="0"/>
          </a:p>
        </p:txBody>
      </p:sp>
      <p:sp>
        <p:nvSpPr>
          <p:cNvPr id="8" name="Text 6"/>
          <p:cNvSpPr/>
          <p:nvPr/>
        </p:nvSpPr>
        <p:spPr>
          <a:xfrm>
            <a:off x="190500" y="142875"/>
            <a:ext cx="881063"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COMPANY NAME</a:t>
            </a:r>
            <a:endParaRPr lang="en-US" sz="784"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33413" y="533400"/>
            <a:ext cx="2990850" cy="309563"/>
          </a:xfrm>
          <a:prstGeom prst="rect">
            <a:avLst/>
          </a:prstGeom>
          <a:noFill/>
          <a:ln/>
        </p:spPr>
        <p:txBody>
          <a:bodyPr wrap="square" lIns="0" tIns="0" rIns="0" bIns="0" rtlCol="0" anchor="t"/>
          <a:lstStyle/>
          <a:p>
            <a:pPr algn="l" indent="0" marL="0">
              <a:lnSpc>
                <a:spcPts val="2316"/>
              </a:lnSpc>
              <a:buNone/>
            </a:pPr>
            <a:r>
              <a:rPr lang="en-US" sz="1425" spc="-28" kern="0" dirty="0">
                <a:solidFill>
                  <a:srgbClr val="000000">
                    <a:alpha val="99000"/>
                  </a:srgbClr>
                </a:solidFill>
                <a:latin typeface="Work Sans" pitchFamily="34" charset="0"/>
                <a:ea typeface="Work Sans" pitchFamily="34" charset="-122"/>
                <a:cs typeface="Work Sans" pitchFamily="34" charset="-120"/>
              </a:rPr>
              <a:t>LINEAR REGRESSION</a:t>
            </a:r>
            <a:endParaRPr lang="en-US" sz="1425" dirty="0"/>
          </a:p>
        </p:txBody>
      </p:sp>
      <p:sp>
        <p:nvSpPr>
          <p:cNvPr id="3" name="Text 1"/>
          <p:cNvSpPr/>
          <p:nvPr/>
        </p:nvSpPr>
        <p:spPr>
          <a:xfrm>
            <a:off x="190500" y="4886325"/>
            <a:ext cx="657225"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TEAM NAME</a:t>
            </a:r>
            <a:endParaRPr lang="en-US" sz="784" dirty="0"/>
          </a:p>
        </p:txBody>
      </p:sp>
      <p:sp>
        <p:nvSpPr>
          <p:cNvPr id="4" name="Text 2"/>
          <p:cNvSpPr/>
          <p:nvPr/>
        </p:nvSpPr>
        <p:spPr>
          <a:xfrm>
            <a:off x="8296275" y="4886325"/>
            <a:ext cx="657225" cy="114300"/>
          </a:xfrm>
          <a:prstGeom prst="rect">
            <a:avLst/>
          </a:prstGeom>
          <a:noFill/>
          <a:ln/>
        </p:spPr>
        <p:txBody>
          <a:bodyPr wrap="square" lIns="0" tIns="0" rIns="0" bIns="0" rtlCol="0" anchor="t"/>
          <a:lstStyle/>
          <a:p>
            <a:pPr algn="r"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FALL 2025</a:t>
            </a:r>
            <a:endParaRPr lang="en-US" sz="784" dirty="0"/>
          </a:p>
        </p:txBody>
      </p:sp>
      <p:sp>
        <p:nvSpPr>
          <p:cNvPr id="5" name="Text 3"/>
          <p:cNvSpPr/>
          <p:nvPr/>
        </p:nvSpPr>
        <p:spPr>
          <a:xfrm>
            <a:off x="190500" y="142875"/>
            <a:ext cx="881063"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COMPANY NAME</a:t>
            </a:r>
            <a:endParaRPr lang="en-US" sz="784"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DCDBCE"/>
        </a:solidFill>
      </p:bgPr>
    </p:bg>
    <p:spTree>
      <p:nvGrpSpPr>
        <p:cNvPr id="1" name=""/>
        <p:cNvGrpSpPr/>
        <p:nvPr/>
      </p:nvGrpSpPr>
      <p:grpSpPr>
        <a:xfrm>
          <a:off x="0" y="0"/>
          <a:ext cx="0" cy="0"/>
          <a:chOff x="0" y="0"/>
          <a:chExt cx="0" cy="0"/>
        </a:xfrm>
      </p:grpSpPr>
      <p:sp>
        <p:nvSpPr>
          <p:cNvPr id="2" name="Text 0"/>
          <p:cNvSpPr/>
          <p:nvPr/>
        </p:nvSpPr>
        <p:spPr>
          <a:xfrm>
            <a:off x="1819275" y="2262188"/>
            <a:ext cx="5510213" cy="619125"/>
          </a:xfrm>
          <a:prstGeom prst="rect">
            <a:avLst/>
          </a:prstGeom>
          <a:noFill/>
          <a:ln/>
        </p:spPr>
        <p:txBody>
          <a:bodyPr wrap="square" lIns="0" tIns="0" rIns="0" bIns="0" rtlCol="0" anchor="ctr"/>
          <a:lstStyle/>
          <a:p>
            <a:pPr algn="ctr" indent="0" marL="0">
              <a:lnSpc>
                <a:spcPts val="2316"/>
              </a:lnSpc>
              <a:buNone/>
            </a:pPr>
            <a:r>
              <a:rPr lang="en-US" sz="1425" spc="-28" kern="0" dirty="0">
                <a:solidFill>
                  <a:srgbClr val="000000">
                    <a:alpha val="99000"/>
                  </a:srgbClr>
                </a:solidFill>
                <a:latin typeface="Work Sans" pitchFamily="34" charset="0"/>
                <a:ea typeface="Work Sans" pitchFamily="34" charset="-122"/>
                <a:cs typeface="Work Sans" pitchFamily="34" charset="-120"/>
              </a:rPr>
              <a:t>WHAT’S AN IMPORTANT QUESTION YOU MIGHT WANT TO ASK THE USER? </a:t>
            </a:r>
            <a:endParaRPr lang="en-US" sz="1425" dirty="0"/>
          </a:p>
        </p:txBody>
      </p:sp>
      <p:pic>
        <p:nvPicPr>
          <p:cNvPr id="3" name="Image 0" descr="preencoded.png">    </p:cNvPr>
          <p:cNvPicPr>
            <a:picLocks noChangeAspect="1"/>
          </p:cNvPicPr>
          <p:nvPr/>
        </p:nvPicPr>
        <p:blipFill>
          <a:blip r:embed="rId1"/>
          <a:srcRect l="0" r="0" t="0" b="0"/>
          <a:stretch/>
        </p:blipFill>
        <p:spPr>
          <a:xfrm>
            <a:off x="8444703" y="134137"/>
            <a:ext cx="565166" cy="565163"/>
          </a:xfrm>
          <a:prstGeom prst="rect">
            <a:avLst/>
          </a:prstGeom>
        </p:spPr>
      </p:pic>
      <p:pic>
        <p:nvPicPr>
          <p:cNvPr id="4" name="Image 1" descr="preencoded.png">    </p:cNvPr>
          <p:cNvPicPr>
            <a:picLocks noChangeAspect="1"/>
          </p:cNvPicPr>
          <p:nvPr/>
        </p:nvPicPr>
        <p:blipFill>
          <a:blip r:embed="rId2"/>
          <a:srcRect l="0" r="28096" t="0" b="28113"/>
          <a:stretch/>
        </p:blipFill>
        <p:spPr>
          <a:xfrm>
            <a:off x="8358192" y="47625"/>
            <a:ext cx="530786" cy="530663"/>
          </a:xfrm>
          <a:prstGeom prst="rect">
            <a:avLst/>
          </a:prstGeom>
        </p:spPr>
      </p:pic>
      <p:sp>
        <p:nvSpPr>
          <p:cNvPr id="5" name="Text 1"/>
          <p:cNvSpPr/>
          <p:nvPr/>
        </p:nvSpPr>
        <p:spPr>
          <a:xfrm>
            <a:off x="190500" y="4886325"/>
            <a:ext cx="657225"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TEAM NAME</a:t>
            </a:r>
            <a:endParaRPr lang="en-US" sz="784" dirty="0"/>
          </a:p>
        </p:txBody>
      </p:sp>
      <p:sp>
        <p:nvSpPr>
          <p:cNvPr id="6" name="Text 2"/>
          <p:cNvSpPr/>
          <p:nvPr/>
        </p:nvSpPr>
        <p:spPr>
          <a:xfrm>
            <a:off x="8072438" y="4886325"/>
            <a:ext cx="881063" cy="114300"/>
          </a:xfrm>
          <a:prstGeom prst="rect">
            <a:avLst/>
          </a:prstGeom>
          <a:noFill/>
          <a:ln/>
        </p:spPr>
        <p:txBody>
          <a:bodyPr wrap="square" lIns="0" tIns="0" rIns="0" bIns="0" rtlCol="0" anchor="t"/>
          <a:lstStyle/>
          <a:p>
            <a:pPr algn="r"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TODAY’S DATE</a:t>
            </a:r>
            <a:endParaRPr lang="en-US" sz="784" dirty="0"/>
          </a:p>
        </p:txBody>
      </p:sp>
      <p:sp>
        <p:nvSpPr>
          <p:cNvPr id="7" name="Text 3"/>
          <p:cNvSpPr/>
          <p:nvPr/>
        </p:nvSpPr>
        <p:spPr>
          <a:xfrm>
            <a:off x="190500" y="142875"/>
            <a:ext cx="881063"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COMPANY NAME</a:t>
            </a:r>
            <a:endParaRPr lang="en-US" sz="784"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043238" y="2262188"/>
            <a:ext cx="3057525" cy="619125"/>
          </a:xfrm>
          <a:prstGeom prst="rect">
            <a:avLst/>
          </a:prstGeom>
          <a:noFill/>
          <a:ln/>
        </p:spPr>
        <p:txBody>
          <a:bodyPr wrap="square" lIns="0" tIns="0" rIns="0" bIns="0" rtlCol="0" anchor="ctr"/>
          <a:lstStyle/>
          <a:p>
            <a:pPr algn="ctr" indent="0" marL="0">
              <a:lnSpc>
                <a:spcPts val="2316"/>
              </a:lnSpc>
              <a:buNone/>
            </a:pPr>
            <a:r>
              <a:rPr lang="en-US" sz="1425" spc="-28" kern="0" dirty="0">
                <a:solidFill>
                  <a:srgbClr val="000000">
                    <a:alpha val="99000"/>
                  </a:srgbClr>
                </a:solidFill>
                <a:latin typeface="Work Sans" pitchFamily="34" charset="0"/>
                <a:ea typeface="Work Sans" pitchFamily="34" charset="-122"/>
                <a:cs typeface="Work Sans" pitchFamily="34" charset="-120"/>
              </a:rPr>
              <a:t>HOW DO YOU FEEL ABOUT THIS FEATURE?</a:t>
            </a:r>
            <a:endParaRPr lang="en-US" sz="1425" dirty="0"/>
          </a:p>
        </p:txBody>
      </p:sp>
      <p:sp>
        <p:nvSpPr>
          <p:cNvPr id="3" name="Shape 1"/>
          <p:cNvSpPr/>
          <p:nvPr/>
        </p:nvSpPr>
        <p:spPr>
          <a:xfrm rot="5400000">
            <a:off x="3914775" y="3952875"/>
            <a:ext cx="1304925" cy="0"/>
          </a:xfrm>
          <a:prstGeom prst="line">
            <a:avLst/>
          </a:prstGeom>
          <a:noFill/>
          <a:ln w="9049">
            <a:solidFill>
              <a:srgbClr val="000000"/>
            </a:solidFill>
            <a:prstDash val="solid"/>
          </a:ln>
        </p:spPr>
      </p:sp>
      <p:sp>
        <p:nvSpPr>
          <p:cNvPr id="4" name="Shape 2"/>
          <p:cNvSpPr/>
          <p:nvPr/>
        </p:nvSpPr>
        <p:spPr>
          <a:xfrm rot="5400000">
            <a:off x="3914775" y="1214438"/>
            <a:ext cx="1304925" cy="0"/>
          </a:xfrm>
          <a:prstGeom prst="line">
            <a:avLst/>
          </a:prstGeom>
          <a:noFill/>
          <a:ln w="9049">
            <a:solidFill>
              <a:srgbClr val="000000"/>
            </a:solidFill>
            <a:prstDash val="solid"/>
          </a:ln>
        </p:spPr>
      </p:sp>
      <p:sp>
        <p:nvSpPr>
          <p:cNvPr id="5" name="Shape 3"/>
          <p:cNvSpPr/>
          <p:nvPr/>
        </p:nvSpPr>
        <p:spPr>
          <a:xfrm rot="-10800000">
            <a:off x="1100138" y="2566988"/>
            <a:ext cx="1876425" cy="0"/>
          </a:xfrm>
          <a:prstGeom prst="line">
            <a:avLst/>
          </a:prstGeom>
          <a:noFill/>
          <a:ln w="9049">
            <a:solidFill>
              <a:srgbClr val="000000"/>
            </a:solidFill>
            <a:prstDash val="solid"/>
          </a:ln>
        </p:spPr>
      </p:sp>
      <p:sp>
        <p:nvSpPr>
          <p:cNvPr id="6" name="Shape 4"/>
          <p:cNvSpPr/>
          <p:nvPr/>
        </p:nvSpPr>
        <p:spPr>
          <a:xfrm rot="-10800000">
            <a:off x="6186488" y="2566988"/>
            <a:ext cx="1876425" cy="0"/>
          </a:xfrm>
          <a:prstGeom prst="line">
            <a:avLst/>
          </a:prstGeom>
          <a:noFill/>
          <a:ln w="9049">
            <a:solidFill>
              <a:srgbClr val="000000"/>
            </a:solidFill>
            <a:prstDash val="solid"/>
          </a:ln>
        </p:spPr>
      </p:sp>
      <p:sp>
        <p:nvSpPr>
          <p:cNvPr id="7" name="Text 5"/>
          <p:cNvSpPr/>
          <p:nvPr/>
        </p:nvSpPr>
        <p:spPr>
          <a:xfrm>
            <a:off x="8148638" y="2505075"/>
            <a:ext cx="885825" cy="133350"/>
          </a:xfrm>
          <a:prstGeom prst="rect">
            <a:avLst/>
          </a:prstGeom>
          <a:noFill/>
          <a:ln/>
        </p:spPr>
        <p:txBody>
          <a:bodyPr wrap="square" lIns="0" tIns="0" rIns="0" bIns="0" rtlCol="0" anchor="t"/>
          <a:lstStyle/>
          <a:p>
            <a:pPr algn="ctr" indent="0" marL="0">
              <a:lnSpc>
                <a:spcPts val="998"/>
              </a:lnSpc>
              <a:buNone/>
            </a:pPr>
            <a:r>
              <a:rPr lang="en-US" sz="855" dirty="0">
                <a:solidFill>
                  <a:srgbClr val="000000">
                    <a:alpha val="99000"/>
                  </a:srgbClr>
                </a:solidFill>
                <a:latin typeface="Work Sans" pitchFamily="34" charset="0"/>
                <a:ea typeface="Work Sans" pitchFamily="34" charset="-122"/>
                <a:cs typeface="Work Sans" pitchFamily="34" charset="-120"/>
              </a:rPr>
              <a:t>Would use daily</a:t>
            </a:r>
            <a:endParaRPr lang="en-US" sz="855" dirty="0"/>
          </a:p>
        </p:txBody>
      </p:sp>
      <p:sp>
        <p:nvSpPr>
          <p:cNvPr id="8" name="Text 6"/>
          <p:cNvSpPr/>
          <p:nvPr/>
        </p:nvSpPr>
        <p:spPr>
          <a:xfrm>
            <a:off x="95250" y="2505075"/>
            <a:ext cx="938213" cy="133350"/>
          </a:xfrm>
          <a:prstGeom prst="rect">
            <a:avLst/>
          </a:prstGeom>
          <a:noFill/>
          <a:ln/>
        </p:spPr>
        <p:txBody>
          <a:bodyPr wrap="square" lIns="0" tIns="0" rIns="0" bIns="0" rtlCol="0" anchor="t"/>
          <a:lstStyle/>
          <a:p>
            <a:pPr algn="ctr" indent="0" marL="0">
              <a:lnSpc>
                <a:spcPts val="998"/>
              </a:lnSpc>
              <a:buNone/>
            </a:pPr>
            <a:r>
              <a:rPr lang="en-US" sz="855" dirty="0">
                <a:solidFill>
                  <a:srgbClr val="000000">
                    <a:alpha val="99000"/>
                  </a:srgbClr>
                </a:solidFill>
                <a:latin typeface="Work Sans" pitchFamily="34" charset="0"/>
                <a:ea typeface="Work Sans" pitchFamily="34" charset="-122"/>
                <a:cs typeface="Work Sans" pitchFamily="34" charset="-120"/>
              </a:rPr>
              <a:t>Would use never</a:t>
            </a:r>
            <a:endParaRPr lang="en-US" sz="855" dirty="0"/>
          </a:p>
        </p:txBody>
      </p:sp>
      <p:sp>
        <p:nvSpPr>
          <p:cNvPr id="9" name="Text 7"/>
          <p:cNvSpPr/>
          <p:nvPr/>
        </p:nvSpPr>
        <p:spPr>
          <a:xfrm>
            <a:off x="4148137" y="4729163"/>
            <a:ext cx="838200" cy="133350"/>
          </a:xfrm>
          <a:prstGeom prst="rect">
            <a:avLst/>
          </a:prstGeom>
          <a:noFill/>
          <a:ln/>
        </p:spPr>
        <p:txBody>
          <a:bodyPr wrap="square" lIns="0" tIns="0" rIns="0" bIns="0" rtlCol="0" anchor="t"/>
          <a:lstStyle/>
          <a:p>
            <a:pPr algn="ctr" indent="0" marL="0">
              <a:lnSpc>
                <a:spcPts val="998"/>
              </a:lnSpc>
              <a:buNone/>
            </a:pPr>
            <a:r>
              <a:rPr lang="en-US" sz="855" dirty="0">
                <a:solidFill>
                  <a:srgbClr val="000000">
                    <a:alpha val="99000"/>
                  </a:srgbClr>
                </a:solidFill>
                <a:latin typeface="Work Sans" pitchFamily="34" charset="0"/>
                <a:ea typeface="Work Sans" pitchFamily="34" charset="-122"/>
                <a:cs typeface="Work Sans" pitchFamily="34" charset="-120"/>
              </a:rPr>
              <a:t>Difficult to use</a:t>
            </a:r>
            <a:endParaRPr lang="en-US" sz="855" dirty="0"/>
          </a:p>
        </p:txBody>
      </p:sp>
      <p:sp>
        <p:nvSpPr>
          <p:cNvPr id="10" name="Text 8"/>
          <p:cNvSpPr/>
          <p:nvPr/>
        </p:nvSpPr>
        <p:spPr>
          <a:xfrm>
            <a:off x="4248150" y="304800"/>
            <a:ext cx="642938" cy="133350"/>
          </a:xfrm>
          <a:prstGeom prst="rect">
            <a:avLst/>
          </a:prstGeom>
          <a:noFill/>
          <a:ln/>
        </p:spPr>
        <p:txBody>
          <a:bodyPr wrap="square" lIns="0" tIns="0" rIns="0" bIns="0" rtlCol="0" anchor="t"/>
          <a:lstStyle/>
          <a:p>
            <a:pPr algn="ctr" indent="0" marL="0">
              <a:lnSpc>
                <a:spcPts val="998"/>
              </a:lnSpc>
              <a:buNone/>
            </a:pPr>
            <a:r>
              <a:rPr lang="en-US" sz="855" dirty="0">
                <a:solidFill>
                  <a:srgbClr val="000000">
                    <a:alpha val="99000"/>
                  </a:srgbClr>
                </a:solidFill>
                <a:latin typeface="Work Sans" pitchFamily="34" charset="0"/>
                <a:ea typeface="Work Sans" pitchFamily="34" charset="-122"/>
                <a:cs typeface="Work Sans" pitchFamily="34" charset="-120"/>
              </a:rPr>
              <a:t>Easy to use</a:t>
            </a:r>
            <a:endParaRPr lang="en-US" sz="855" dirty="0"/>
          </a:p>
        </p:txBody>
      </p:sp>
      <p:pic>
        <p:nvPicPr>
          <p:cNvPr id="11" name="Image 0" descr="preencoded.png">    </p:cNvPr>
          <p:cNvPicPr>
            <a:picLocks noChangeAspect="1"/>
          </p:cNvPicPr>
          <p:nvPr/>
        </p:nvPicPr>
        <p:blipFill>
          <a:blip r:embed="rId1"/>
          <a:srcRect l="0" r="-1" t="0" b="0"/>
          <a:stretch/>
        </p:blipFill>
        <p:spPr>
          <a:xfrm>
            <a:off x="6681788" y="1490663"/>
            <a:ext cx="377205" cy="374899"/>
          </a:xfrm>
          <a:prstGeom prst="rect">
            <a:avLst/>
          </a:prstGeom>
        </p:spPr>
      </p:pic>
      <p:pic>
        <p:nvPicPr>
          <p:cNvPr id="12" name="Image 1" descr="preencoded.png">    </p:cNvPr>
          <p:cNvPicPr>
            <a:picLocks noChangeAspect="1"/>
          </p:cNvPicPr>
          <p:nvPr/>
        </p:nvPicPr>
        <p:blipFill>
          <a:blip r:embed="rId2"/>
          <a:srcRect l="0" r="-1" t="0" b="0"/>
          <a:stretch/>
        </p:blipFill>
        <p:spPr>
          <a:xfrm>
            <a:off x="1847850" y="2967038"/>
            <a:ext cx="377205" cy="374899"/>
          </a:xfrm>
          <a:prstGeom prst="rect">
            <a:avLst/>
          </a:prstGeom>
        </p:spPr>
      </p:pic>
      <p:pic>
        <p:nvPicPr>
          <p:cNvPr id="13" name="Image 2" descr="preencoded.png">    </p:cNvPr>
          <p:cNvPicPr>
            <a:picLocks noChangeAspect="1"/>
          </p:cNvPicPr>
          <p:nvPr/>
        </p:nvPicPr>
        <p:blipFill>
          <a:blip r:embed="rId3"/>
          <a:srcRect l="0" r="-1" t="0" b="0"/>
          <a:stretch/>
        </p:blipFill>
        <p:spPr>
          <a:xfrm>
            <a:off x="5910263" y="3714750"/>
            <a:ext cx="377205" cy="374899"/>
          </a:xfrm>
          <a:prstGeom prst="rect">
            <a:avLst/>
          </a:prstGeom>
        </p:spPr>
      </p:pic>
      <p:pic>
        <p:nvPicPr>
          <p:cNvPr id="14" name="Image 3" descr="preencoded.png">    </p:cNvPr>
          <p:cNvPicPr>
            <a:picLocks noChangeAspect="1"/>
          </p:cNvPicPr>
          <p:nvPr/>
        </p:nvPicPr>
        <p:blipFill>
          <a:blip r:embed="rId4"/>
          <a:srcRect l="0" r="-1" t="0" b="0"/>
          <a:stretch/>
        </p:blipFill>
        <p:spPr>
          <a:xfrm>
            <a:off x="2667000" y="647700"/>
            <a:ext cx="377205" cy="374899"/>
          </a:xfrm>
          <a:prstGeom prst="rect">
            <a:avLst/>
          </a:prstGeom>
        </p:spPr>
      </p:pic>
      <p:sp>
        <p:nvSpPr>
          <p:cNvPr id="15" name="Text 9"/>
          <p:cNvSpPr/>
          <p:nvPr/>
        </p:nvSpPr>
        <p:spPr>
          <a:xfrm>
            <a:off x="190500" y="4886325"/>
            <a:ext cx="666750"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TEAM NAME </a:t>
            </a:r>
            <a:endParaRPr lang="en-US" sz="784" dirty="0"/>
          </a:p>
        </p:txBody>
      </p:sp>
      <p:sp>
        <p:nvSpPr>
          <p:cNvPr id="16" name="Text 10"/>
          <p:cNvSpPr/>
          <p:nvPr/>
        </p:nvSpPr>
        <p:spPr>
          <a:xfrm>
            <a:off x="8072438" y="4886325"/>
            <a:ext cx="881063" cy="114300"/>
          </a:xfrm>
          <a:prstGeom prst="rect">
            <a:avLst/>
          </a:prstGeom>
          <a:noFill/>
          <a:ln/>
        </p:spPr>
        <p:txBody>
          <a:bodyPr wrap="square" lIns="0" tIns="0" rIns="0" bIns="0" rtlCol="0" anchor="t"/>
          <a:lstStyle/>
          <a:p>
            <a:pPr algn="r"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TODAY’S DATE</a:t>
            </a:r>
            <a:endParaRPr lang="en-US" sz="784" dirty="0"/>
          </a:p>
        </p:txBody>
      </p:sp>
      <p:sp>
        <p:nvSpPr>
          <p:cNvPr id="17" name="Text 11"/>
          <p:cNvSpPr/>
          <p:nvPr/>
        </p:nvSpPr>
        <p:spPr>
          <a:xfrm>
            <a:off x="190500" y="142875"/>
            <a:ext cx="881063" cy="114300"/>
          </a:xfrm>
          <a:prstGeom prst="rect">
            <a:avLst/>
          </a:prstGeom>
          <a:noFill/>
          <a:ln/>
        </p:spPr>
        <p:txBody>
          <a:bodyPr wrap="square" lIns="0" tIns="0" rIns="0" bIns="0" rtlCol="0" anchor="t"/>
          <a:lstStyle/>
          <a:p>
            <a:pPr algn="l" indent="0" marL="0">
              <a:lnSpc>
                <a:spcPts val="863"/>
              </a:lnSpc>
              <a:buNone/>
            </a:pPr>
            <a:r>
              <a:rPr lang="en-US" sz="784" spc="78" kern="0" dirty="0">
                <a:solidFill>
                  <a:srgbClr val="000000">
                    <a:alpha val="99000"/>
                  </a:srgbClr>
                </a:solidFill>
                <a:latin typeface="Cutive Mono" pitchFamily="34" charset="0"/>
                <a:ea typeface="Cutive Mono" pitchFamily="34" charset="-122"/>
                <a:cs typeface="Cutive Mono" pitchFamily="34" charset="-120"/>
              </a:rPr>
              <a:t>COMPANY NAME</a:t>
            </a:r>
            <a:endParaRPr lang="en-US" sz="78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2026-10-22T05:04:43Z</dcterms:created>
  <dcterms:modified xsi:type="dcterms:W3CDTF">2026-10-22T05:04:43Z</dcterms:modified>
</cp:coreProperties>
</file>